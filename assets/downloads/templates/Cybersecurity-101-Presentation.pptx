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9169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UNCLASSIFIED // DEMONSTRATION TRAINING — NO CUI OR CLASSIFIED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Cybersecurity 101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C9D2DB"/>
                </a:solidFill>
                <a:latin typeface="Arial"/>
              </a:rPr>
              <a:t>Foundations for the Cyber Workforce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B8C2CC"/>
                </a:solidFill>
                <a:latin typeface="Arial"/>
              </a:rPr>
              <a:t>The vocabulary, principles, threats, and workflow that everything else builds on —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B8C2CC"/>
                </a:solidFill>
                <a:latin typeface="Arial"/>
              </a:rPr>
              <a:t>a companion to the Cybersecurity 101 Desk Reference and Process Guide, and to BC-101 in the CSO Cyber Range.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860B"/>
                </a:solidFill>
                <a:latin typeface="Arial"/>
              </a:rPr>
              <a:t>CCoE Cybersecurity Office   ·   v1.0   ·   Effective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9169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UNCLASSIFIED // DEMONSTRATION TRAINING — NO CUI OR CLASSIFIED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28016" cy="822960"/>
          </a:xfrm>
          <a:prstGeom prst="rect">
            <a:avLst/>
          </a:prstGeom>
          <a:solidFill>
            <a:srgbClr val="5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860B"/>
                </a:solidFill>
                <a:latin typeface="Arial"/>
              </a:rPr>
              <a:t>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D3D"/>
                </a:solidFill>
                <a:latin typeface="Arial"/>
              </a:rPr>
              <a:t>What This Deck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08813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1.  Why cybersecurity — risk in plain terms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2.  The CIA Triad — the goal of all security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3.  Core vocabulary: asset, threat, vulnerability, risk, control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4.  Foundational principles (defense in depth, least privilege, assume breach)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5.  Identity: authentication, authorization, accounting (AAA &amp; MFA)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6.  Common threats and how to recognize them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7.  The Risk Management Framework (RMF) lifecycle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8.  Roles, everyday hygiene, and where to go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806440"/>
            <a:ext cx="10881360" cy="566928"/>
          </a:xfrm>
          <a:prstGeom prst="rect">
            <a:avLst/>
          </a:prstGeom>
          <a:solidFill>
            <a:srgbClr val="F4F5F2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24729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E2F"/>
                </a:solidFill>
                <a:latin typeface="Arial"/>
              </a:rPr>
              <a:t>KEY TAKEAWAY:  </a:t>
            </a:r>
            <a:r>
              <a:rPr sz="1000" b="0">
                <a:solidFill>
                  <a:srgbClr val="20262E"/>
                </a:solidFill>
                <a:latin typeface="Arial"/>
              </a:rPr>
              <a:t>Foundational and vendor-neutral — no prior experience assumed.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4606E"/>
                </a:solidFill>
                <a:latin typeface="Arial"/>
              </a:rPr>
              <a:t>CCoE Cybersecurity Office · Cybersecurity 101 ·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583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4606E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9169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UNCLASSIFIED // DEMONSTRATION TRAINING — NO CUI OR CLASSIFIED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28016" cy="822960"/>
          </a:xfrm>
          <a:prstGeom prst="rect">
            <a:avLst/>
          </a:prstGeom>
          <a:solidFill>
            <a:srgbClr val="5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860B"/>
                </a:solidFill>
                <a:latin typeface="Arial"/>
              </a:rPr>
              <a:t>THE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D3D"/>
                </a:solidFill>
                <a:latin typeface="Arial"/>
              </a:rPr>
              <a:t>Security Exists to Manage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08813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Every organization depends on information and systems. Adversaries — criminal, state, and insider — try to steal, alter, or deny them.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Cybersecurity is not about perfect prevention. It is about managing risk to an acceptable level so the mission can continue in a contested environment.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5B6E2F"/>
                </a:solidFill>
                <a:latin typeface="Arial"/>
              </a:rPr>
              <a:t>Risk = Likelihood × Impact.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We reduce risk by lowering how likely a harmful event is, how much it would hurt, or both — and by being able to detect, contain, and recover when prevention fails.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806440"/>
            <a:ext cx="10881360" cy="566928"/>
          </a:xfrm>
          <a:prstGeom prst="rect">
            <a:avLst/>
          </a:prstGeom>
          <a:solidFill>
            <a:srgbClr val="F4F5F2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24729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E2F"/>
                </a:solidFill>
                <a:latin typeface="Arial"/>
              </a:rPr>
              <a:t>KEY TAKEAWAY:  </a:t>
            </a:r>
            <a:r>
              <a:rPr sz="1000" b="0">
                <a:solidFill>
                  <a:srgbClr val="20262E"/>
                </a:solidFill>
                <a:latin typeface="Arial"/>
              </a:rPr>
              <a:t>You cannot eliminate risk; you manage it deliberately and document the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4606E"/>
                </a:solidFill>
                <a:latin typeface="Arial"/>
              </a:rPr>
              <a:t>CCoE Cybersecurity Office · Cybersecurity 101 ·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583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4606E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9169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UNCLASSIFIED // DEMONSTRATION TRAINING — NO CUI OR CLASSIFIED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28016" cy="822960"/>
          </a:xfrm>
          <a:prstGeom prst="rect">
            <a:avLst/>
          </a:prstGeom>
          <a:solidFill>
            <a:srgbClr val="5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860B"/>
                </a:solidFill>
                <a:latin typeface="Arial"/>
              </a:rPr>
              <a:t>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D3D"/>
                </a:solidFill>
                <a:latin typeface="Arial"/>
              </a:rPr>
              <a:t>The CIA Triad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08813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Confidentiality — </a:t>
            </a:r>
            <a:r>
              <a:rPr sz="1600" b="0">
                <a:solidFill>
                  <a:srgbClr val="20262E"/>
                </a:solidFill>
                <a:latin typeface="Arial"/>
              </a:rPr>
              <a:t>information is seen only by those authorized. (access control, encryption, need-to-know)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Integrity — </a:t>
            </a:r>
            <a:r>
              <a:rPr sz="1600" b="0">
                <a:solidFill>
                  <a:srgbClr val="20262E"/>
                </a:solidFill>
                <a:latin typeface="Arial"/>
              </a:rPr>
              <a:t>information and systems stay accurate and unaltered except by authorized action. (hashing, change control, logging)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Availability — </a:t>
            </a:r>
            <a:r>
              <a:rPr sz="1600" b="0">
                <a:solidFill>
                  <a:srgbClr val="20262E"/>
                </a:solidFill>
                <a:latin typeface="Arial"/>
              </a:rPr>
              <a:t>systems and data are usable when needed. (redundancy, backups, resilience, DoS defense)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54606E"/>
                </a:solidFill>
                <a:latin typeface="Arial"/>
              </a:rPr>
              <a:t>Every security control ultimately protects one or more of these three properties. When you evaluate a control, ask: which leg of the triad does it serve?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806440"/>
            <a:ext cx="10881360" cy="566928"/>
          </a:xfrm>
          <a:prstGeom prst="rect">
            <a:avLst/>
          </a:prstGeom>
          <a:solidFill>
            <a:srgbClr val="F4F5F2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24729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E2F"/>
                </a:solidFill>
                <a:latin typeface="Arial"/>
              </a:rPr>
              <a:t>KEY TAKEAWAY:  </a:t>
            </a:r>
            <a:r>
              <a:rPr sz="1000" b="0">
                <a:solidFill>
                  <a:srgbClr val="20262E"/>
                </a:solidFill>
                <a:latin typeface="Arial"/>
              </a:rPr>
              <a:t>C, I, and A are the scoreboard — all controls map back to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4606E"/>
                </a:solidFill>
                <a:latin typeface="Arial"/>
              </a:rPr>
              <a:t>CCoE Cybersecurity Office · Cybersecurity 101 ·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583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4606E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9169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UNCLASSIFIED // DEMONSTRATION TRAINING — NO CUI OR CLASSIFIED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28016" cy="822960"/>
          </a:xfrm>
          <a:prstGeom prst="rect">
            <a:avLst/>
          </a:prstGeom>
          <a:solidFill>
            <a:srgbClr val="5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860B"/>
                </a:solidFill>
                <a:latin typeface="Arial"/>
              </a:rPr>
              <a:t>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D3D"/>
                </a:solidFill>
                <a:latin typeface="Arial"/>
              </a:rPr>
              <a:t>Speak the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08813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Asset — </a:t>
            </a:r>
            <a:r>
              <a:rPr sz="1600" b="0">
                <a:solidFill>
                  <a:srgbClr val="20262E"/>
                </a:solidFill>
                <a:latin typeface="Arial"/>
              </a:rPr>
              <a:t>something of value you must protect (data, a system, a service).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Threat — </a:t>
            </a:r>
            <a:r>
              <a:rPr sz="1600" b="0">
                <a:solidFill>
                  <a:srgbClr val="20262E"/>
                </a:solidFill>
                <a:latin typeface="Arial"/>
              </a:rPr>
              <a:t>a potential cause of harm: an actor (hacker, insider) or an event (flood, outage).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Vulnerability — </a:t>
            </a:r>
            <a:r>
              <a:rPr sz="1600" b="0">
                <a:solidFill>
                  <a:srgbClr val="20262E"/>
                </a:solidFill>
                <a:latin typeface="Arial"/>
              </a:rPr>
              <a:t>a weakness a threat can exploit (unpatched software, weak password, open port).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Risk — </a:t>
            </a:r>
            <a:r>
              <a:rPr sz="1600" b="0">
                <a:solidFill>
                  <a:srgbClr val="20262E"/>
                </a:solidFill>
                <a:latin typeface="Arial"/>
              </a:rPr>
              <a:t>the chance a threat exploits a vulnerability, and the impact if it does.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Control / safeguard — </a:t>
            </a:r>
            <a:r>
              <a:rPr sz="1600" b="0">
                <a:solidFill>
                  <a:srgbClr val="20262E"/>
                </a:solidFill>
                <a:latin typeface="Arial"/>
              </a:rPr>
              <a:t>a measure (technical, operational, or managerial) that reduces risk.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806440"/>
            <a:ext cx="10881360" cy="566928"/>
          </a:xfrm>
          <a:prstGeom prst="rect">
            <a:avLst/>
          </a:prstGeom>
          <a:solidFill>
            <a:srgbClr val="F4F5F2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24729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E2F"/>
                </a:solidFill>
                <a:latin typeface="Arial"/>
              </a:rPr>
              <a:t>KEY TAKEAWAY:  </a:t>
            </a:r>
            <a:r>
              <a:rPr sz="1000" b="0">
                <a:solidFill>
                  <a:srgbClr val="20262E"/>
                </a:solidFill>
                <a:latin typeface="Arial"/>
              </a:rPr>
              <a:t>A threat with no matching vulnerability — or a vulnerability no threat can reach — is low risk.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4606E"/>
                </a:solidFill>
                <a:latin typeface="Arial"/>
              </a:rPr>
              <a:t>CCoE Cybersecurity Office · Cybersecurity 101 ·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583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4606E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9169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UNCLASSIFIED // DEMONSTRATION TRAINING — NO CUI OR CLASSIFIED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28016" cy="822960"/>
          </a:xfrm>
          <a:prstGeom prst="rect">
            <a:avLst/>
          </a:prstGeom>
          <a:solidFill>
            <a:srgbClr val="5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860B"/>
                </a:solidFill>
                <a:latin typeface="Arial"/>
              </a:rPr>
              <a:t>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D3D"/>
                </a:solidFill>
                <a:latin typeface="Arial"/>
              </a:rPr>
              <a:t>Principles That Guide Every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08813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Defense in depth — </a:t>
            </a:r>
            <a:r>
              <a:rPr sz="1600" b="0">
                <a:solidFill>
                  <a:srgbClr val="20262E"/>
                </a:solidFill>
                <a:latin typeface="Arial"/>
              </a:rPr>
              <a:t>layer controls so no single failure is catastrophic.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Least privilege — </a:t>
            </a:r>
            <a:r>
              <a:rPr sz="1600" b="0">
                <a:solidFill>
                  <a:srgbClr val="20262E"/>
                </a:solidFill>
                <a:latin typeface="Arial"/>
              </a:rPr>
              <a:t>grant the minimum access required to do the job, and no more.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Need to know — </a:t>
            </a:r>
            <a:r>
              <a:rPr sz="1600" b="0">
                <a:solidFill>
                  <a:srgbClr val="20262E"/>
                </a:solidFill>
                <a:latin typeface="Arial"/>
              </a:rPr>
              <a:t>access follows a legitimate, current mission need.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Separation of duties — </a:t>
            </a:r>
            <a:r>
              <a:rPr sz="1600" b="0">
                <a:solidFill>
                  <a:srgbClr val="20262E"/>
                </a:solidFill>
                <a:latin typeface="Arial"/>
              </a:rPr>
              <a:t>split critical actions so no one person can act unchecked.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Fail secure — </a:t>
            </a:r>
            <a:r>
              <a:rPr sz="1600" b="0">
                <a:solidFill>
                  <a:srgbClr val="20262E"/>
                </a:solidFill>
                <a:latin typeface="Arial"/>
              </a:rPr>
              <a:t>when something breaks, default to the safe, denied state.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Assume breach — </a:t>
            </a:r>
            <a:r>
              <a:rPr sz="1600" b="0">
                <a:solidFill>
                  <a:srgbClr val="20262E"/>
                </a:solidFill>
                <a:latin typeface="Arial"/>
              </a:rPr>
              <a:t>design to detect, contain, and recover, not only to keep attackers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806440"/>
            <a:ext cx="10881360" cy="566928"/>
          </a:xfrm>
          <a:prstGeom prst="rect">
            <a:avLst/>
          </a:prstGeom>
          <a:solidFill>
            <a:srgbClr val="F4F5F2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24729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E2F"/>
                </a:solidFill>
                <a:latin typeface="Arial"/>
              </a:rPr>
              <a:t>KEY TAKEAWAY:  </a:t>
            </a:r>
            <a:r>
              <a:rPr sz="1000" b="0">
                <a:solidFill>
                  <a:srgbClr val="20262E"/>
                </a:solidFill>
                <a:latin typeface="Arial"/>
              </a:rPr>
              <a:t>These principles resolve most day-to-day security judgment calls.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4606E"/>
                </a:solidFill>
                <a:latin typeface="Arial"/>
              </a:rPr>
              <a:t>CCoE Cybersecurity Office · Cybersecurity 101 ·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583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4606E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9169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UNCLASSIFIED // DEMONSTRATION TRAINING — NO CUI OR CLASSIFIED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28016" cy="822960"/>
          </a:xfrm>
          <a:prstGeom prst="rect">
            <a:avLst/>
          </a:prstGeom>
          <a:solidFill>
            <a:srgbClr val="5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860B"/>
                </a:solidFill>
                <a:latin typeface="Arial"/>
              </a:rPr>
              <a:t>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D3D"/>
                </a:solidFill>
                <a:latin typeface="Arial"/>
              </a:rPr>
              <a:t>Proving and Tracking Who Did 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08813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Authentication — </a:t>
            </a:r>
            <a:r>
              <a:rPr sz="1600" b="0">
                <a:solidFill>
                  <a:srgbClr val="20262E"/>
                </a:solidFill>
                <a:latin typeface="Arial"/>
              </a:rPr>
              <a:t>proving you are who you claim to be.</a:t>
            </a:r>
          </a:p>
          <a:p>
            <a:pPr algn="l" lvl="1"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4606E"/>
                </a:solidFill>
                <a:latin typeface="Arial"/>
              </a:rPr>
              <a:t>Factors: something you know (password), something you have (token), something you are (biometric).</a:t>
            </a:r>
          </a:p>
          <a:p>
            <a:pPr algn="l" lvl="1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5B6E2F"/>
                </a:solidFill>
                <a:latin typeface="Arial"/>
              </a:rPr>
              <a:t>Multi-factor authentication (MFA) combines two or more factors — the single highest-value everyday control.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Authorization — </a:t>
            </a:r>
            <a:r>
              <a:rPr sz="1600" b="0">
                <a:solidFill>
                  <a:srgbClr val="20262E"/>
                </a:solidFill>
                <a:latin typeface="Arial"/>
              </a:rPr>
              <a:t>what you are permitted to do once authenticated (enforced by least privilege).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Accounting / audit — </a:t>
            </a:r>
            <a:r>
              <a:rPr sz="1600" b="0">
                <a:solidFill>
                  <a:srgbClr val="20262E"/>
                </a:solidFill>
                <a:latin typeface="Arial"/>
              </a:rPr>
              <a:t>recording what was done, by whom, and when — so actions are traceable.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806440"/>
            <a:ext cx="10881360" cy="566928"/>
          </a:xfrm>
          <a:prstGeom prst="rect">
            <a:avLst/>
          </a:prstGeom>
          <a:solidFill>
            <a:srgbClr val="F4F5F2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24729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E2F"/>
                </a:solidFill>
                <a:latin typeface="Arial"/>
              </a:rPr>
              <a:t>KEY TAKEAWAY:  </a:t>
            </a:r>
            <a:r>
              <a:rPr sz="1000" b="0">
                <a:solidFill>
                  <a:srgbClr val="20262E"/>
                </a:solidFill>
                <a:latin typeface="Arial"/>
              </a:rPr>
              <a:t>Authentication ≠ authorization. Logging in is not the same as being allowed.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4606E"/>
                </a:solidFill>
                <a:latin typeface="Arial"/>
              </a:rPr>
              <a:t>CCoE Cybersecurity Office · Cybersecurity 101 ·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583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4606E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9169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UNCLASSIFIED // DEMONSTRATION TRAINING — NO CUI OR CLASSIFIED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28016" cy="822960"/>
          </a:xfrm>
          <a:prstGeom prst="rect">
            <a:avLst/>
          </a:prstGeom>
          <a:solidFill>
            <a:srgbClr val="5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860B"/>
                </a:solidFill>
                <a:latin typeface="Arial"/>
              </a:rPr>
              <a:t>THREAT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D3D"/>
                </a:solidFill>
                <a:latin typeface="Arial"/>
              </a:rPr>
              <a:t>Threats You Will Actually 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08813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Phishing &amp; social engineering — </a:t>
            </a:r>
            <a:r>
              <a:rPr sz="1600" b="0">
                <a:solidFill>
                  <a:srgbClr val="20262E"/>
                </a:solidFill>
                <a:latin typeface="Arial"/>
              </a:rPr>
              <a:t>manipulating people, not machines. Verify before you trust; report it.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Malware (incl. ransomware) — </a:t>
            </a:r>
            <a:r>
              <a:rPr sz="1600" b="0">
                <a:solidFill>
                  <a:srgbClr val="20262E"/>
                </a:solidFill>
                <a:latin typeface="Arial"/>
              </a:rPr>
              <a:t>malicious code. Patch, restrict execution, keep offline backups.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Credential theft &amp; reuse — </a:t>
            </a:r>
            <a:r>
              <a:rPr sz="1600" b="0">
                <a:solidFill>
                  <a:srgbClr val="20262E"/>
                </a:solidFill>
                <a:latin typeface="Arial"/>
              </a:rPr>
              <a:t>stolen/guessed passwords. MFA and unique passphrases defeat most of it.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Insider threat — </a:t>
            </a:r>
            <a:r>
              <a:rPr sz="1600" b="0">
                <a:solidFill>
                  <a:srgbClr val="20262E"/>
                </a:solidFill>
                <a:latin typeface="Arial"/>
              </a:rPr>
              <a:t>misuse by trusted users. Least privilege, monitoring, separation of duties.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Misconfiguration &amp; unpatched systems — </a:t>
            </a:r>
            <a:r>
              <a:rPr sz="1600" b="0">
                <a:solidFill>
                  <a:srgbClr val="20262E"/>
                </a:solidFill>
                <a:latin typeface="Arial"/>
              </a:rPr>
              <a:t>the most common real-world entry point of 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806440"/>
            <a:ext cx="10881360" cy="566928"/>
          </a:xfrm>
          <a:prstGeom prst="rect">
            <a:avLst/>
          </a:prstGeom>
          <a:solidFill>
            <a:srgbClr val="F4F5F2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24729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E2F"/>
                </a:solidFill>
                <a:latin typeface="Arial"/>
              </a:rPr>
              <a:t>KEY TAKEAWAY:  </a:t>
            </a:r>
            <a:r>
              <a:rPr sz="1000" b="0">
                <a:solidFill>
                  <a:srgbClr val="20262E"/>
                </a:solidFill>
                <a:latin typeface="Arial"/>
              </a:rPr>
              <a:t>Most breaches start with a person tricked or a system left unpatched — not exotic zero-days.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4606E"/>
                </a:solidFill>
                <a:latin typeface="Arial"/>
              </a:rPr>
              <a:t>CCoE Cybersecurity Office · Cybersecurity 101 ·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583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4606E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9169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UNCLASSIFIED // DEMONSTRATION TRAINING — NO CUI OR CLASSIFIED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28016" cy="822960"/>
          </a:xfrm>
          <a:prstGeom prst="rect">
            <a:avLst/>
          </a:prstGeom>
          <a:solidFill>
            <a:srgbClr val="5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860B"/>
                </a:solidFill>
                <a:latin typeface="Arial"/>
              </a:rP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D3D"/>
                </a:solidFill>
                <a:latin typeface="Arial"/>
              </a:rPr>
              <a:t>The RMF Lifecycle (NIST SP 800-37)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08813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2D3D"/>
                </a:solidFill>
                <a:latin typeface="Arial"/>
              </a:rPr>
              <a:t>0 · Prepare — </a:t>
            </a:r>
            <a:r>
              <a:rPr sz="1500" b="0">
                <a:solidFill>
                  <a:srgbClr val="20262E"/>
                </a:solidFill>
                <a:latin typeface="Arial"/>
              </a:rPr>
              <a:t>establish context, roles, and risk strategy.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2D3D"/>
                </a:solidFill>
                <a:latin typeface="Arial"/>
              </a:rPr>
              <a:t>1 · Categorize — </a:t>
            </a:r>
            <a:r>
              <a:rPr sz="1500" b="0">
                <a:solidFill>
                  <a:srgbClr val="20262E"/>
                </a:solidFill>
                <a:latin typeface="Arial"/>
              </a:rPr>
              <a:t>set the impact level (FIPS 199: Low/Moderate/High for C, I, A).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2D3D"/>
                </a:solidFill>
                <a:latin typeface="Arial"/>
              </a:rPr>
              <a:t>2 · Select — </a:t>
            </a:r>
            <a:r>
              <a:rPr sz="1500" b="0">
                <a:solidFill>
                  <a:srgbClr val="20262E"/>
                </a:solidFill>
                <a:latin typeface="Arial"/>
              </a:rPr>
              <a:t>choose and tailor the SP 800-53 control baseline.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2D3D"/>
                </a:solidFill>
                <a:latin typeface="Arial"/>
              </a:rPr>
              <a:t>3 · Implement — </a:t>
            </a:r>
            <a:r>
              <a:rPr sz="1500" b="0">
                <a:solidFill>
                  <a:srgbClr val="20262E"/>
                </a:solidFill>
                <a:latin typeface="Arial"/>
              </a:rPr>
              <a:t>put the controls in place and document how.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2D3D"/>
                </a:solidFill>
                <a:latin typeface="Arial"/>
              </a:rPr>
              <a:t>4 · Assess — </a:t>
            </a:r>
            <a:r>
              <a:rPr sz="1500" b="0">
                <a:solidFill>
                  <a:srgbClr val="20262E"/>
                </a:solidFill>
                <a:latin typeface="Arial"/>
              </a:rPr>
              <a:t>independently test that controls work as described.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2D3D"/>
                </a:solidFill>
                <a:latin typeface="Arial"/>
              </a:rPr>
              <a:t>5 · Authorize — </a:t>
            </a:r>
            <a:r>
              <a:rPr sz="1500" b="0">
                <a:solidFill>
                  <a:srgbClr val="20262E"/>
                </a:solidFill>
                <a:latin typeface="Arial"/>
              </a:rPr>
              <a:t>the AO weighs residual risk and issues the ATO.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2D3D"/>
                </a:solidFill>
                <a:latin typeface="Arial"/>
              </a:rPr>
              <a:t>6 · Monitor — </a:t>
            </a:r>
            <a:r>
              <a:rPr sz="1500" b="0">
                <a:solidFill>
                  <a:srgbClr val="20262E"/>
                </a:solidFill>
                <a:latin typeface="Arial"/>
              </a:rPr>
              <a:t>continuous monitoring; changes feed back into the cycle.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806440"/>
            <a:ext cx="10881360" cy="566928"/>
          </a:xfrm>
          <a:prstGeom prst="rect">
            <a:avLst/>
          </a:prstGeom>
          <a:solidFill>
            <a:srgbClr val="F4F5F2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24729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E2F"/>
                </a:solidFill>
                <a:latin typeface="Arial"/>
              </a:rPr>
              <a:t>KEY TAKEAWAY:  </a:t>
            </a:r>
            <a:r>
              <a:rPr sz="1000" b="0">
                <a:solidFill>
                  <a:srgbClr val="20262E"/>
                </a:solidFill>
                <a:latin typeface="Arial"/>
              </a:rPr>
              <a:t>RMF turns 'is it secure?' into a repeatable, documented, risk-based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4606E"/>
                </a:solidFill>
                <a:latin typeface="Arial"/>
              </a:rPr>
              <a:t>CCoE Cybersecurity Office · Cybersecurity 101 ·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583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4606E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9169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UNCLASSIFIED // DEMONSTRATION TRAINING — NO CUI OR CLASSIFIED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28016" cy="822960"/>
          </a:xfrm>
          <a:prstGeom prst="rect">
            <a:avLst/>
          </a:prstGeom>
          <a:solidFill>
            <a:srgbClr val="5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860B"/>
                </a:solidFill>
                <a:latin typeface="Arial"/>
              </a:rPr>
              <a:t>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D3D"/>
                </a:solidFill>
                <a:latin typeface="Arial"/>
              </a:rPr>
              <a:t>Who Does 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08813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Authorizing Official (AO) — </a:t>
            </a:r>
            <a:r>
              <a:rPr sz="1600" b="0">
                <a:solidFill>
                  <a:srgbClr val="20262E"/>
                </a:solidFill>
                <a:latin typeface="Arial"/>
              </a:rPr>
              <a:t>accepts risk on behalf of the organization; signs the ATO.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ISSM — </a:t>
            </a:r>
            <a:r>
              <a:rPr sz="1600" b="0">
                <a:solidFill>
                  <a:srgbClr val="20262E"/>
                </a:solidFill>
                <a:latin typeface="Arial"/>
              </a:rPr>
              <a:t>runs the security program across the organization's systems.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ISSO — </a:t>
            </a:r>
            <a:r>
              <a:rPr sz="1600" b="0">
                <a:solidFill>
                  <a:srgbClr val="20262E"/>
                </a:solidFill>
                <a:latin typeface="Arial"/>
              </a:rPr>
              <a:t>owns day-to-day security for a specific system and its package.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SCA — </a:t>
            </a:r>
            <a:r>
              <a:rPr sz="1600" b="0">
                <a:solidFill>
                  <a:srgbClr val="20262E"/>
                </a:solidFill>
                <a:latin typeface="Arial"/>
              </a:rPr>
              <a:t>independently assesses the controls and writes the assessment report.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F2D3D"/>
                </a:solidFill>
                <a:latin typeface="Arial"/>
              </a:rPr>
              <a:t>System / Data Owner — </a:t>
            </a:r>
            <a:r>
              <a:rPr sz="1600" b="0">
                <a:solidFill>
                  <a:srgbClr val="20262E"/>
                </a:solidFill>
                <a:latin typeface="Arial"/>
              </a:rPr>
              <a:t>owns the mission, the system, and ultimately its risk.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806440"/>
            <a:ext cx="10881360" cy="566928"/>
          </a:xfrm>
          <a:prstGeom prst="rect">
            <a:avLst/>
          </a:prstGeom>
          <a:solidFill>
            <a:srgbClr val="F4F5F2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24729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E2F"/>
                </a:solidFill>
                <a:latin typeface="Arial"/>
              </a:rPr>
              <a:t>KEY TAKEAWAY:  </a:t>
            </a:r>
            <a:r>
              <a:rPr sz="1000" b="0">
                <a:solidFill>
                  <a:srgbClr val="20262E"/>
                </a:solidFill>
                <a:latin typeface="Arial"/>
              </a:rPr>
              <a:t>Security is a team sport with clearly separated, accountable roles.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4606E"/>
                </a:solidFill>
                <a:latin typeface="Arial"/>
              </a:rPr>
              <a:t>CCoE Cybersecurity Office · Cybersecurity 101 ·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583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4606E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9169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UNCLASSIFIED // DEMONSTRATION TRAINING — NO CUI OR CLASSIFIED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28016" cy="822960"/>
          </a:xfrm>
          <a:prstGeom prst="rect">
            <a:avLst/>
          </a:prstGeom>
          <a:solidFill>
            <a:srgbClr val="5B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860B"/>
                </a:solidFill>
                <a:latin typeface="Arial"/>
              </a:rPr>
              <a:t>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D3D"/>
                </a:solidFill>
                <a:latin typeface="Arial"/>
              </a:rPr>
              <a:t>Everyday Habits That Matter Most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108813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Use MFA everywhere and strong, unique passphrases — never shared.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Lock your screen when you step away; encrypt data at rest and in transit.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Patch promptly and report anything suspicious immediately — speed limits damage.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0262E"/>
                </a:solidFill>
                <a:latin typeface="Arial"/>
              </a:rPr>
              <a:t>Handle CUI according to its markings; know your incident-reporting path before you need it.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5B6E2F"/>
                </a:solidFill>
                <a:latin typeface="Arial"/>
              </a:rPr>
              <a:t>When in doubt, ask the ISSO before acting — a question is cheaper than an incident.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806440"/>
            <a:ext cx="10881360" cy="566928"/>
          </a:xfrm>
          <a:prstGeom prst="rect">
            <a:avLst/>
          </a:prstGeom>
          <a:solidFill>
            <a:srgbClr val="F4F5F2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824729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E2F"/>
                </a:solidFill>
                <a:latin typeface="Arial"/>
              </a:rPr>
              <a:t>KEY TAKEAWAY:  </a:t>
            </a:r>
            <a:r>
              <a:rPr sz="1000" b="0">
                <a:solidFill>
                  <a:srgbClr val="20262E"/>
                </a:solidFill>
                <a:latin typeface="Arial"/>
              </a:rPr>
              <a:t>Most real-world protection comes from disciplined basics done consistently.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4606E"/>
                </a:solidFill>
                <a:latin typeface="Arial"/>
              </a:rPr>
              <a:t>CCoE Cybersecurity Office · Cybersecurity 101 ·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583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4606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9169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UNCLASSIFIED // DEMONSTRATION TRAINING — NO CUI OR CLASSIFIED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Where To Go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Keep the Cybersecurity 101 Desk Reference at your workstation.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Read the Cybersecurity 101 Process Guide for the full narrative and how it feeds the RMF.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Start BC-101 (Intro to Cybersecurity &amp; Resilience Frameworks) in the CSO Cyber Range.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B8860B"/>
                </a:solidFill>
                <a:latin typeface="Arial"/>
              </a:rPr>
              <a:t>• Questions? Contact the CCoE Cybersecurity Office.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8C2CC"/>
                </a:solidFill>
                <a:latin typeface="Arial"/>
              </a:rPr>
              <a:t>CCoE Cybersecurity Office · Cybersecurity 101 ·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