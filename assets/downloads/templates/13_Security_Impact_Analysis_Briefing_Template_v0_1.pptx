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5fd9af74e945bc" /><Relationship Type="http://schemas.openxmlformats.org/officeDocument/2006/relationships/extended-properties" Target="/docProps/app.xml" Id="Ra3a69e381efa472f" /><Relationship Type="http://schemas.openxmlformats.org/officeDocument/2006/relationships/officeDocument" Target="/ppt/presentation.xml" Id="R2e6f046afec84a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091efc0f1a4feb"/>
  </p:sldMasterIdLst>
  <p:notesMasterIdLst>
    <p:notesMasterId xmlns:r="http://schemas.openxmlformats.org/officeDocument/2006/relationships" r:id="R26cbcbeb9aff4286"/>
  </p:notesMasterIdLst>
  <p:sldIdLst>
    <p:sldId xmlns:r="http://schemas.openxmlformats.org/officeDocument/2006/relationships" id="256" r:id="R636211925ffd4fa0"/>
    <p:sldId xmlns:r="http://schemas.openxmlformats.org/officeDocument/2006/relationships" id="257" r:id="R5bf8367a06494cb2"/>
    <p:sldId xmlns:r="http://schemas.openxmlformats.org/officeDocument/2006/relationships" id="258" r:id="R0f49415b845d4167"/>
    <p:sldId xmlns:r="http://schemas.openxmlformats.org/officeDocument/2006/relationships" id="259" r:id="R6476f3cb8f274a0b"/>
    <p:sldId xmlns:r="http://schemas.openxmlformats.org/officeDocument/2006/relationships" id="260" r:id="Rb99c1e1477db42eb"/>
    <p:sldId xmlns:r="http://schemas.openxmlformats.org/officeDocument/2006/relationships" id="261" r:id="Rf710f8cec4e34077"/>
    <p:sldId xmlns:r="http://schemas.openxmlformats.org/officeDocument/2006/relationships" id="262" r:id="Re81e7dd98cf4440f"/>
    <p:sldId xmlns:r="http://schemas.openxmlformats.org/officeDocument/2006/relationships" id="263" r:id="Ra3c8c21479324804"/>
    <p:sldId xmlns:r="http://schemas.openxmlformats.org/officeDocument/2006/relationships" id="264" r:id="Rfe0a97fdb25e4d90"/>
    <p:sldId xmlns:r="http://schemas.openxmlformats.org/officeDocument/2006/relationships" id="265" r:id="Rce56770be9ce4dda"/>
    <p:sldId xmlns:r="http://schemas.openxmlformats.org/officeDocument/2006/relationships" id="266" r:id="R364f04b2e75d40d8"/>
    <p:sldId xmlns:r="http://schemas.openxmlformats.org/officeDocument/2006/relationships" id="267" r:id="Rff610bdb9e1b4e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9c0df92c794d7c" /><Relationship Type="http://schemas.openxmlformats.org/officeDocument/2006/relationships/slideMaster" Target="/ppt/slideMasters/slideMaster1.xml" Id="Rd0091efc0f1a4feb" /><Relationship Type="http://schemas.openxmlformats.org/officeDocument/2006/relationships/notesMaster" Target="/ppt/notesMasters/notesMaster1.xml" Id="R26cbcbeb9aff4286" /><Relationship Type="http://schemas.openxmlformats.org/officeDocument/2006/relationships/presProps" Target="/ppt/presProps.xml" Id="R52ab56c5926f4130" /><Relationship Type="http://schemas.openxmlformats.org/officeDocument/2006/relationships/tableStyles" Target="/ppt/tableStyles.xml" Id="R97a932213c014c75" /><Relationship Type="http://schemas.openxmlformats.org/officeDocument/2006/relationships/slide" Target="/ppt/slides/slide1.xml" Id="R636211925ffd4fa0" /><Relationship Type="http://schemas.openxmlformats.org/officeDocument/2006/relationships/slide" Target="/ppt/slides/slide2.xml" Id="R5bf8367a06494cb2" /><Relationship Type="http://schemas.openxmlformats.org/officeDocument/2006/relationships/slide" Target="/ppt/slides/slide3.xml" Id="R0f49415b845d4167" /><Relationship Type="http://schemas.openxmlformats.org/officeDocument/2006/relationships/slide" Target="/ppt/slides/slide4.xml" Id="R6476f3cb8f274a0b" /><Relationship Type="http://schemas.openxmlformats.org/officeDocument/2006/relationships/slide" Target="/ppt/slides/slide5.xml" Id="Rb99c1e1477db42eb" /><Relationship Type="http://schemas.openxmlformats.org/officeDocument/2006/relationships/slide" Target="/ppt/slides/slide6.xml" Id="Rf710f8cec4e34077" /><Relationship Type="http://schemas.openxmlformats.org/officeDocument/2006/relationships/slide" Target="/ppt/slides/slide7.xml" Id="Re81e7dd98cf4440f" /><Relationship Type="http://schemas.openxmlformats.org/officeDocument/2006/relationships/slide" Target="/ppt/slides/slide8.xml" Id="Ra3c8c21479324804" /><Relationship Type="http://schemas.openxmlformats.org/officeDocument/2006/relationships/slide" Target="/ppt/slides/slide9.xml" Id="Rfe0a97fdb25e4d90" /><Relationship Type="http://schemas.openxmlformats.org/officeDocument/2006/relationships/slide" Target="/ppt/slides/slide10.xml" Id="Rce56770be9ce4dda" /><Relationship Type="http://schemas.openxmlformats.org/officeDocument/2006/relationships/slide" Target="/ppt/slides/slide11.xml" Id="R364f04b2e75d40d8" /><Relationship Type="http://schemas.openxmlformats.org/officeDocument/2006/relationships/slide" Target="/ppt/slides/slide12.xml" Id="Rff610bdb9e1b4e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f4fc17ff7f4f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3165a70df443ca" /><Relationship Type="http://schemas.openxmlformats.org/officeDocument/2006/relationships/notesMaster" Target="/ppt/notesMasters/notesMaster1.xml" Id="Ra38c26809cbd4e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71d56108b44205" /><Relationship Type="http://schemas.openxmlformats.org/officeDocument/2006/relationships/notesMaster" Target="/ppt/notesMasters/notesMaster1.xml" Id="Rff62b9ef6fb94c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82ab3d8423488b" /><Relationship Type="http://schemas.openxmlformats.org/officeDocument/2006/relationships/notesMaster" Target="/ppt/notesMasters/notesMaster1.xml" Id="Rfd86416c187d40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927216e59a497a" /><Relationship Type="http://schemas.openxmlformats.org/officeDocument/2006/relationships/notesMaster" Target="/ppt/notesMasters/notesMaster1.xml" Id="R5a1c99763b404b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12a9f62f914c4f" /><Relationship Type="http://schemas.openxmlformats.org/officeDocument/2006/relationships/notesMaster" Target="/ppt/notesMasters/notesMaster1.xml" Id="Rf0a173e16cce4b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317fc3414a4e97" /><Relationship Type="http://schemas.openxmlformats.org/officeDocument/2006/relationships/notesMaster" Target="/ppt/notesMasters/notesMaster1.xml" Id="R13c4d78a594043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b806fb923045ea" /><Relationship Type="http://schemas.openxmlformats.org/officeDocument/2006/relationships/notesMaster" Target="/ppt/notesMasters/notesMaster1.xml" Id="R4bdea7f65efb4d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e6fbb413ec48a7" /><Relationship Type="http://schemas.openxmlformats.org/officeDocument/2006/relationships/notesMaster" Target="/ppt/notesMasters/notesMaster1.xml" Id="Rabb2b2bbc53844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a6357e6f1c405b" /><Relationship Type="http://schemas.openxmlformats.org/officeDocument/2006/relationships/notesMaster" Target="/ppt/notesMasters/notesMaster1.xml" Id="R5698e041f5bb49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fc186835564320" /><Relationship Type="http://schemas.openxmlformats.org/officeDocument/2006/relationships/notesMaster" Target="/ppt/notesMasters/notesMaster1.xml" Id="Rbaf6f26de32246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6d6d1aa01d4c37" /><Relationship Type="http://schemas.openxmlformats.org/officeDocument/2006/relationships/notesMaster" Target="/ppt/notesMasters/notesMaster1.xml" Id="Rff49dc2e0c7d46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2f128732f841f0" /><Relationship Type="http://schemas.openxmlformats.org/officeDocument/2006/relationships/notesMaster" Target="/ppt/notesMasters/notesMaster1.xml" Id="Rb37065e862bf49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Tailoring guidance: Replace bracketed content with evidence for this change. Repeat analytical slides as needed. The slide is a job aid and conveys no approval. Sources: https://csrc.nist.gov/pubs/sp/800/128/upd1/final ; https://csrc.nist.gov/pubs/sp/800/53/r5/upd1/final ; https://csrc.nist.gov/pubs/sp/800/37/r2/final . Army context: AR 25-2 and DA Pam 25-2-14, public 2019 editions referenced in the companion catalog. Verify current command and AO requirements. Slide 10 is entirely fictional. The guide provides completion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Tailoring guidance: Replace bracketed content with evidence for this change. Repeat analytical slides as needed. The slide is a job aid and conveys no approval. Sources: https://csrc.nist.gov/pubs/sp/800/128/upd1/final ; https://csrc.nist.gov/pubs/sp/800/53/r5/upd1/final ; https://csrc.nist.gov/pubs/sp/800/37/r2/final . Army context: AR 25-2 and DA Pam 25-2-14, public 2019 editions referenced in the companion catalog. Verify current command and AO requirements. Slide 10 is entirely fictional. The guide provides completion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Tailoring guidance: Replace bracketed content with evidence for this change. Repeat analytical slides as needed. The slide is a job aid and conveys no approval. Sources: https://csrc.nist.gov/pubs/sp/800/128/upd1/final ; https://csrc.nist.gov/pubs/sp/800/53/r5/upd1/final ; https://csrc.nist.gov/pubs/sp/800/37/r2/final . Army context: AR 25-2 and DA Pam 25-2-14, public 2019 editions referenced in the companion catalog. Verify current command and AO requirements. Slide 10 is entirely fictional. The guide provides completion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Tailoring guidance: Replace bracketed content with evidence for this change. Repeat analytical slides as needed. The slide is a job aid and conveys no approval. Sources: https://csrc.nist.gov/pubs/sp/800/128/upd1/final ; https://csrc.nist.gov/pubs/sp/800/53/r5/upd1/final ; https://csrc.nist.gov/pubs/sp/800/37/r2/final . Army context: AR 25-2 and DA Pam 25-2-14, public 2019 editions referenced in the companion catalog. Verify current command and AO requirements. Slide 10 is entirely fictional. The guide provides completion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Tailoring guidance: Replace bracketed content with evidence for this change. Repeat analytical slides as needed. The slide is a job aid and conveys no approval. Sources: https://csrc.nist.gov/pubs/sp/800/128/upd1/final ; https://csrc.nist.gov/pubs/sp/800/53/r5/upd1/final ; https://csrc.nist.gov/pubs/sp/800/37/r2/final . Army context: AR 25-2 and DA Pam 25-2-14, public 2019 editions referenced in the companion catalog. Verify current command and AO requirements. Slide 10 is entirely fictional. The guide provides completion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Tailoring guidance: Replace bracketed content with evidence for this change. Repeat analytical slides as needed. The slide is a job aid and conveys no approval. Sources: https://csrc.nist.gov/pubs/sp/800/128/upd1/final ; https://csrc.nist.gov/pubs/sp/800/53/r5/upd1/final ; https://csrc.nist.gov/pubs/sp/800/37/r2/final . Army context: AR 25-2 and DA Pam 25-2-14, public 2019 editions referenced in the companion catalog. Verify current command and AO requirements. Slide 10 is entirely fictional. The guide provides completion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Tailoring guidance: Replace bracketed content with evidence for this change. Repeat analytical slides as needed. The slide is a job aid and conveys no approval. Sources: https://csrc.nist.gov/pubs/sp/800/128/upd1/final ; https://csrc.nist.gov/pubs/sp/800/53/r5/upd1/final ; https://csrc.nist.gov/pubs/sp/800/37/r2/final . Army context: AR 25-2 and DA Pam 25-2-14, public 2019 editions referenced in the companion catalog. Verify current command and AO requirements. Slide 10 is entirely fictional. The guide provides completion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Tailoring guidance: Replace bracketed content with evidence for this change. Repeat analytical slides as needed. The slide is a job aid and conveys no approval. Sources: https://csrc.nist.gov/pubs/sp/800/128/upd1/final ; https://csrc.nist.gov/pubs/sp/800/53/r5/upd1/final ; https://csrc.nist.gov/pubs/sp/800/37/r2/final . Army context: AR 25-2 and DA Pam 25-2-14, public 2019 editions referenced in the companion catalog. Verify current command and AO requirements. Slide 10 is entirely fictional. The guide provides completion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Tailoring guidance: Replace bracketed content with evidence for this change. Repeat analytical slides as needed. The slide is a job aid and conveys no approval. Sources: https://csrc.nist.gov/pubs/sp/800/128/upd1/final ; https://csrc.nist.gov/pubs/sp/800/53/r5/upd1/final ; https://csrc.nist.gov/pubs/sp/800/37/r2/final . Army context: AR 25-2 and DA Pam 25-2-14, public 2019 editions referenced in the companion catalog. Verify current command and AO requirements. Slide 10 is entirely fictional. The guide provides completion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Tailoring guidance: Replace bracketed content with evidence for this change. Repeat analytical slides as needed. The slide is a job aid and conveys no approval. Sources: https://csrc.nist.gov/pubs/sp/800/128/upd1/final ; https://csrc.nist.gov/pubs/sp/800/53/r5/upd1/final ; https://csrc.nist.gov/pubs/sp/800/37/r2/final . Army context: AR 25-2 and DA Pam 25-2-14, public 2019 editions referenced in the companion catalog. Verify current command and AO requirements. Slide 10 is entirely fictional. The guide provides completion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Tailoring guidance: Replace bracketed content with evidence for this change. Repeat analytical slides as needed. The slide is a job aid and conveys no approval. Sources: https://csrc.nist.gov/pubs/sp/800/128/upd1/final ; https://csrc.nist.gov/pubs/sp/800/53/r5/upd1/final ; https://csrc.nist.gov/pubs/sp/800/37/r2/final . Army context: AR 25-2 and DA Pam 25-2-14, public 2019 editions referenced in the companion catalog. Verify current command and AO requirements. Slide 10 is entirely fictional. The guide provides completion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Tailoring guidance: Replace bracketed content with evidence for this change. Repeat analytical slides as needed. The slide is a job aid and conveys no approval. Sources: https://csrc.nist.gov/pubs/sp/800/128/upd1/final ; https://csrc.nist.gov/pubs/sp/800/53/r5/upd1/final ; https://csrc.nist.gov/pubs/sp/800/37/r2/final . Army context: AR 25-2 and DA Pam 25-2-14, public 2019 editions referenced in the companion catalog. Verify current command and AO requirements. Slide 10 is entirely fictional. The guide provides completion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af27c42c794a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428cc2e8b44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e32085de249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e2c2122ee48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b694ba25845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b84bf2aa049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8197A4-6ABB-4ACE-9D42-6377217DD3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B01C64-CDB4-43B0-8644-5FD6302E56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738EA4-CE3E-4592-99AF-D56DAAE2E8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DC0E30-9342-4FD2-B182-E25233248A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C4C307-3045-4E67-8F87-5D453071AC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D2117E-3598-4C89-913F-6558F4DF7E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4ABCE6-6676-4DF8-B4BB-B3270214D8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16A82D9-9295-4104-A5C0-C9CD81001C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02F2BC-C324-41FC-9D1B-6873AE7401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350051-DD59-42AF-9A34-D3820438EB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7bc5448b584819" /><Relationship Type="http://schemas.openxmlformats.org/officeDocument/2006/relationships/slideLayout" Target="/ppt/slideLayouts/slideLayout1.xml" Id="Rdc5b95381a18427c" /><Relationship Type="http://schemas.openxmlformats.org/officeDocument/2006/relationships/slideLayout" Target="/ppt/slideLayouts/slideLayout2.xml" Id="R9386966e67c64442" /><Relationship Type="http://schemas.openxmlformats.org/officeDocument/2006/relationships/slideLayout" Target="/ppt/slideLayouts/slideLayout3.xml" Id="Re33b9a17f4f64722" /><Relationship Type="http://schemas.openxmlformats.org/officeDocument/2006/relationships/slideLayout" Target="/ppt/slideLayouts/slideLayout4.xml" Id="R671a3a823b9f4bbb" /><Relationship Type="http://schemas.openxmlformats.org/officeDocument/2006/relationships/slideLayout" Target="/ppt/slideLayouts/slideLayout5.xml" Id="Rffad7c4e606e4a88" /><Relationship Type="http://schemas.openxmlformats.org/officeDocument/2006/relationships/slideLayout" Target="/ppt/slideLayouts/slideLayout6.xml" Id="R4bff26faf0c746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5b95381a18427c"/>
    <p:sldLayoutId xmlns:r="http://schemas.openxmlformats.org/officeDocument/2006/relationships" id="2147483650" r:id="R9386966e67c64442"/>
    <p:sldLayoutId xmlns:r="http://schemas.openxmlformats.org/officeDocument/2006/relationships" id="2147483651" r:id="Re33b9a17f4f64722"/>
    <p:sldLayoutId xmlns:r="http://schemas.openxmlformats.org/officeDocument/2006/relationships" id="2147483652" r:id="R671a3a823b9f4bbb"/>
    <p:sldLayoutId xmlns:r="http://schemas.openxmlformats.org/officeDocument/2006/relationships" id="2147483653" r:id="Rffad7c4e606e4a88"/>
    <p:sldLayoutId xmlns:r="http://schemas.openxmlformats.org/officeDocument/2006/relationships" id="2147483654" r:id="R4bff26faf0c746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40e4e34aa4748" /><Relationship Type="http://schemas.openxmlformats.org/officeDocument/2006/relationships/notesSlide" Target="/ppt/notesSlides/notesSlide1.xml" Id="R32592b518db540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deb4378b54b55" /><Relationship Type="http://schemas.openxmlformats.org/officeDocument/2006/relationships/notesSlide" Target="/ppt/notesSlides/notesSlide2.xml" Id="R11ee7a29eb9243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dd87d06c3149e4" /><Relationship Type="http://schemas.openxmlformats.org/officeDocument/2006/relationships/notesSlide" Target="/ppt/notesSlides/notesSlide3.xml" Id="R83ef79ab9da844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137a277ee4f9c" /><Relationship Type="http://schemas.openxmlformats.org/officeDocument/2006/relationships/notesSlide" Target="/ppt/notesSlides/notesSlide4.xml" Id="Rf8247c3dcab543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dd1726d01541d2" /><Relationship Type="http://schemas.openxmlformats.org/officeDocument/2006/relationships/notesSlide" Target="/ppt/notesSlides/notesSlide5.xml" Id="R5fe21beaad8746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903c83d454bae" /><Relationship Type="http://schemas.openxmlformats.org/officeDocument/2006/relationships/notesSlide" Target="/ppt/notesSlides/notesSlide6.xml" Id="Rb1a72b37525a4b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d98e289ea48bd" /><Relationship Type="http://schemas.openxmlformats.org/officeDocument/2006/relationships/notesSlide" Target="/ppt/notesSlides/notesSlide7.xml" Id="R76ca8ca2c7104e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a9545d19c64d81" /><Relationship Type="http://schemas.openxmlformats.org/officeDocument/2006/relationships/notesSlide" Target="/ppt/notesSlides/notesSlide8.xml" Id="Rd803d53835564d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78add2a7a04086" /><Relationship Type="http://schemas.openxmlformats.org/officeDocument/2006/relationships/notesSlide" Target="/ppt/notesSlides/notesSlide9.xml" Id="Rcfc590ad909045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1195533b744e26" /><Relationship Type="http://schemas.openxmlformats.org/officeDocument/2006/relationships/notesSlide" Target="/ppt/notesSlides/notesSlide10.xml" Id="R44f57077098e43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ec6cc82b564539" /><Relationship Type="http://schemas.openxmlformats.org/officeDocument/2006/relationships/notesSlide" Target="/ppt/notesSlides/notesSlide11.xml" Id="Rdf49328acd9946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711bf2e2c0484a" /><Relationship Type="http://schemas.openxmlformats.org/officeDocument/2006/relationships/notesSlide" Target="/ppt/notesSlides/notesSlide12.xml" Id="R3865b38498d546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B53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organization">
            <a:extLst xmlns:a="http://schemas.openxmlformats.org/drawingml/2006/main">
              <a:ext uri="{FF2B5EF4-FFF2-40B4-BE49-F238E27FC236}">
                <a16:creationId xmlns:a16="http://schemas.microsoft.com/office/drawing/2014/main" id="{E919FAEE-7063-4393-B4DD-D7F44DAC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E8D390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E8D390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E8D390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E8D390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E8D390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E8D390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E8D390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E8D390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E8D390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E8D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E8D39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8D390"/>
                </a:solidFill>
                <a:latin typeface="Arial"/>
                <a:ea typeface="Arial"/>
                <a:cs typeface="Arial"/>
              </a:rPr>
              <a:t>CYBERSECURITY CENTER OF EXCELLENCE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8FD8DB-954C-4FD9-B6D0-3D0FD3E6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 impact analysis</a:t>
            </a:r>
          </a:p>
        </p:txBody>
      </p:sp>
      <p:sp>
        <p:nvSpPr>
          <p:cNvPr id="3" name="system">
            <a:extLst xmlns:a="http://schemas.openxmlformats.org/drawingml/2006/main">
              <a:ext uri="{FF2B5EF4-FFF2-40B4-BE49-F238E27FC236}">
                <a16:creationId xmlns:a16="http://schemas.microsoft.com/office/drawing/2014/main" id="{B69BB8D0-66DB-4A54-8692-B6BEDD81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[System name]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[Change ID and proposed release]</a:t>
            </a:r>
          </a:p>
        </p:txBody>
      </p:sp>
      <p:sp>
        <p:nvSpPr>
          <p:cNvPr id="4" name="presenter">
            <a:extLst xmlns:a="http://schemas.openxmlformats.org/drawingml/2006/main">
              <a:ext uri="{FF2B5EF4-FFF2-40B4-BE49-F238E27FC236}">
                <a16:creationId xmlns:a16="http://schemas.microsoft.com/office/drawing/2014/main" id="{76878110-8796-45A9-9FAE-2EF2F895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[Organization and presenter]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[Decision forum and date]</a:t>
            </a:r>
          </a:p>
        </p:txBody>
      </p:sp>
    </p:spTree>
    <p:extLst>
      <p:ext uri="{BB962C8B-B14F-4D97-AF65-F5344CB8AC3E}">
        <p14:creationId xmlns:p14="http://schemas.microsoft.com/office/powerpoint/2010/main" val="869768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99CAAF07-C470-41E7-B5D6-BE711040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B5320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2" name="field-0">
            <a:extLst xmlns:a="http://schemas.openxmlformats.org/drawingml/2006/main">
              <a:ext uri="{FF2B5EF4-FFF2-40B4-BE49-F238E27FC236}">
                <a16:creationId xmlns:a16="http://schemas.microsoft.com/office/drawing/2014/main" id="{65ACDDFE-0471-4DCA-8FE1-9B722621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Requested action</a:t>
            </a:r>
          </a:p>
        </p:txBody>
      </p:sp>
      <p:sp>
        <p:nvSpPr>
          <p:cNvPr id="3" name="prompt-0">
            <a:extLst xmlns:a="http://schemas.openxmlformats.org/drawingml/2006/main">
              <a:ext uri="{FF2B5EF4-FFF2-40B4-BE49-F238E27FC236}">
                <a16:creationId xmlns:a16="http://schemas.microsoft.com/office/drawing/2014/main" id="{0622F338-DE1F-4389-8151-EB58534E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[Approve / defer / reject the configuration change]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[Scope, baseline, and change window]</a:t>
            </a:r>
          </a:p>
        </p:txBody>
      </p:sp>
      <p:sp>
        <p:nvSpPr>
          <p:cNvPr id="4" name="field-1">
            <a:extLst xmlns:a="http://schemas.openxmlformats.org/drawingml/2006/main">
              <a:ext uri="{FF2B5EF4-FFF2-40B4-BE49-F238E27FC236}">
                <a16:creationId xmlns:a16="http://schemas.microsoft.com/office/drawing/2014/main" id="{E2145AB1-2F6A-4111-8186-BA093928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Mission rationale</a:t>
            </a:r>
          </a:p>
        </p:txBody>
      </p:sp>
      <p:sp>
        <p:nvSpPr>
          <p:cNvPr id="5" name="prompt-1">
            <a:extLst xmlns:a="http://schemas.openxmlformats.org/drawingml/2006/main">
              <a:ext uri="{FF2B5EF4-FFF2-40B4-BE49-F238E27FC236}">
                <a16:creationId xmlns:a16="http://schemas.microsoft.com/office/drawing/2014/main" id="{6BD2C415-4689-40DC-BAFA-B44BD9CE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[Operational benefit and consequence of deferral]</a:t>
            </a:r>
          </a:p>
        </p:txBody>
      </p:sp>
      <p:sp>
        <p:nvSpPr>
          <p:cNvPr id="6" name="field-2">
            <a:extLst xmlns:a="http://schemas.openxmlformats.org/drawingml/2006/main">
              <a:ext uri="{FF2B5EF4-FFF2-40B4-BE49-F238E27FC236}">
                <a16:creationId xmlns:a16="http://schemas.microsoft.com/office/drawing/2014/main" id="{2F06D722-908F-4629-804E-71CAE361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Open conditions</a:t>
            </a:r>
          </a:p>
        </p:txBody>
      </p:sp>
      <p:sp>
        <p:nvSpPr>
          <p:cNvPr id="7" name="prompt-2">
            <a:extLst xmlns:a="http://schemas.openxmlformats.org/drawingml/2006/main">
              <a:ext uri="{FF2B5EF4-FFF2-40B4-BE49-F238E27FC236}">
                <a16:creationId xmlns:a16="http://schemas.microsoft.com/office/drawing/2014/main" id="{CB383989-AAE2-4718-8175-DF0A900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[Unresolved findings, needed evidence, owner, due date]</a:t>
            </a:r>
          </a:p>
        </p:txBody>
      </p:sp>
      <p:sp>
        <p:nvSpPr>
          <p:cNvPr id="8" name="field-3">
            <a:extLst xmlns:a="http://schemas.openxmlformats.org/drawingml/2006/main">
              <a:ext uri="{FF2B5EF4-FFF2-40B4-BE49-F238E27FC236}">
                <a16:creationId xmlns:a16="http://schemas.microsoft.com/office/drawing/2014/main" id="{11193AF0-8BA8-48FD-B82F-1C83DDCF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Authority and routing</a:t>
            </a:r>
          </a:p>
        </p:txBody>
      </p:sp>
      <p:sp>
        <p:nvSpPr>
          <p:cNvPr id="9" name="prompt-3">
            <a:extLst xmlns:a="http://schemas.openxmlformats.org/drawingml/2006/main">
              <a:ext uri="{FF2B5EF4-FFF2-40B4-BE49-F238E27FC236}">
                <a16:creationId xmlns:a16="http://schemas.microsoft.com/office/drawing/2014/main" id="{A4CD2ECB-02F0-4A83-B248-EA6724EF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[Change authority]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[Separate AO decision or coordination, if required]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6EF1DFF7-3D1A-4B85-AA8B-48A1D341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736E"/>
                </a:solidFill>
                <a:latin typeface="Arial"/>
                <a:ea typeface="Arial"/>
                <a:cs typeface="Arial"/>
              </a:rPr>
              <a:t>CCoE   /   Draft template v0.1   /   02</a:t>
            </a:r>
          </a:p>
        </p:txBody>
      </p:sp>
    </p:spTree>
    <p:extLst>
      <p:ext uri="{BB962C8B-B14F-4D97-AF65-F5344CB8AC3E}">
        <p14:creationId xmlns:p14="http://schemas.microsoft.com/office/powerpoint/2010/main" val="5941955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ADEF2C4A-A693-4CA4-90D2-88489BD0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B5320"/>
                </a:solidFill>
                <a:latin typeface="Arial"/>
                <a:ea typeface="Arial"/>
                <a:cs typeface="Arial"/>
              </a:rPr>
              <a:t>Change scope</a:t>
            </a:r>
          </a:p>
        </p:txBody>
      </p:sp>
      <p:sp>
        <p:nvSpPr>
          <p:cNvPr id="2" name="field-0">
            <a:extLst xmlns:a="http://schemas.openxmlformats.org/drawingml/2006/main">
              <a:ext uri="{FF2B5EF4-FFF2-40B4-BE49-F238E27FC236}">
                <a16:creationId xmlns:a16="http://schemas.microsoft.com/office/drawing/2014/main" id="{10991EBC-53F7-4E1C-9F8F-F88C92D2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3" name="prompt-0">
            <a:extLst xmlns:a="http://schemas.openxmlformats.org/drawingml/2006/main">
              <a:ext uri="{FF2B5EF4-FFF2-40B4-BE49-F238E27FC236}">
                <a16:creationId xmlns:a16="http://schemas.microsoft.com/office/drawing/2014/main" id="{CDF00199-17FB-4903-B187-5E4A79AD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[Baseline version, authorization boundary, hosting, and dependencies]</a:t>
            </a:r>
          </a:p>
        </p:txBody>
      </p:sp>
      <p:sp>
        <p:nvSpPr>
          <p:cNvPr id="4" name="field-1">
            <a:extLst xmlns:a="http://schemas.openxmlformats.org/drawingml/2006/main">
              <a:ext uri="{FF2B5EF4-FFF2-40B4-BE49-F238E27FC236}">
                <a16:creationId xmlns:a16="http://schemas.microsoft.com/office/drawing/2014/main" id="{BF82A984-B03F-4652-88A2-30485493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Proposed state</a:t>
            </a:r>
          </a:p>
        </p:txBody>
      </p:sp>
      <p:sp>
        <p:nvSpPr>
          <p:cNvPr id="5" name="prompt-1">
            <a:extLst xmlns:a="http://schemas.openxmlformats.org/drawingml/2006/main">
              <a:ext uri="{FF2B5EF4-FFF2-40B4-BE49-F238E27FC236}">
                <a16:creationId xmlns:a16="http://schemas.microsoft.com/office/drawing/2014/main" id="{5E8B0CED-F3FA-4FCC-88D3-156E83DB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[Exact versions and affected components]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[New or removed functionality]</a:t>
            </a:r>
          </a:p>
        </p:txBody>
      </p:sp>
      <p:sp>
        <p:nvSpPr>
          <p:cNvPr id="6" name="field-2">
            <a:extLst xmlns:a="http://schemas.openxmlformats.org/drawingml/2006/main">
              <a:ext uri="{FF2B5EF4-FFF2-40B4-BE49-F238E27FC236}">
                <a16:creationId xmlns:a16="http://schemas.microsoft.com/office/drawing/2014/main" id="{6232D019-FA15-46A9-B982-435CCBD8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Affected flows and users</a:t>
            </a:r>
          </a:p>
        </p:txBody>
      </p:sp>
      <p:sp>
        <p:nvSpPr>
          <p:cNvPr id="7" name="prompt-2">
            <a:extLst xmlns:a="http://schemas.openxmlformats.org/drawingml/2006/main">
              <a:ext uri="{FF2B5EF4-FFF2-40B4-BE49-F238E27FC236}">
                <a16:creationId xmlns:a16="http://schemas.microsoft.com/office/drawing/2014/main" id="{82D9B0ED-71E8-4352-910E-15C3F80C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[Interfaces, destinations, data types, identities, and privileges]</a:t>
            </a:r>
          </a:p>
        </p:txBody>
      </p:sp>
      <p:sp>
        <p:nvSpPr>
          <p:cNvPr id="8" name="field-3">
            <a:extLst xmlns:a="http://schemas.openxmlformats.org/drawingml/2006/main">
              <a:ext uri="{FF2B5EF4-FFF2-40B4-BE49-F238E27FC236}">
                <a16:creationId xmlns:a16="http://schemas.microsoft.com/office/drawing/2014/main" id="{5E2D96FA-6B3C-48B2-97E6-429CB5EE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Analysis participants</a:t>
            </a:r>
          </a:p>
        </p:txBody>
      </p:sp>
      <p:sp>
        <p:nvSpPr>
          <p:cNvPr id="9" name="prompt-3">
            <a:extLst xmlns:a="http://schemas.openxmlformats.org/drawingml/2006/main">
              <a:ext uri="{FF2B5EF4-FFF2-40B4-BE49-F238E27FC236}">
                <a16:creationId xmlns:a16="http://schemas.microsoft.com/office/drawing/2014/main" id="{F6C57AB5-2AA6-46CB-B963-A53779D2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[Engineer, ISSO, ISSE, ISSM, system owner]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[Provider, privacy official, assessor as needed]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5B3D54A1-D2E6-4CE3-86EA-91D79711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736E"/>
                </a:solidFill>
                <a:latin typeface="Arial"/>
                <a:ea typeface="Arial"/>
                <a:cs typeface="Arial"/>
              </a:rPr>
              <a:t>CCoE   /   Draft template v0.1   /   03</a:t>
            </a:r>
          </a:p>
        </p:txBody>
      </p:sp>
    </p:spTree>
    <p:extLst>
      <p:ext uri="{BB962C8B-B14F-4D97-AF65-F5344CB8AC3E}">
        <p14:creationId xmlns:p14="http://schemas.microsoft.com/office/powerpoint/2010/main" val="11400680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477EA2D2-FDDD-4D3F-9B1D-FFB1C82C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B5320"/>
                </a:solidFill>
                <a:latin typeface="Arial"/>
                <a:ea typeface="Arial"/>
                <a:cs typeface="Arial"/>
              </a:rPr>
              <a:t>Control effects</a:t>
            </a:r>
          </a:p>
        </p:txBody>
      </p:sp>
      <p:sp>
        <p:nvSpPr>
          <p:cNvPr id="2" name="field-0">
            <a:extLst xmlns:a="http://schemas.openxmlformats.org/drawingml/2006/main">
              <a:ext uri="{FF2B5EF4-FFF2-40B4-BE49-F238E27FC236}">
                <a16:creationId xmlns:a16="http://schemas.microsoft.com/office/drawing/2014/main" id="{1D64CD70-D782-46C5-8569-6CF1A6CF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Affected control or enhancement</a:t>
            </a:r>
          </a:p>
        </p:txBody>
      </p:sp>
      <p:sp>
        <p:nvSpPr>
          <p:cNvPr id="3" name="prompt-0">
            <a:extLst xmlns:a="http://schemas.openxmlformats.org/drawingml/2006/main">
              <a:ext uri="{FF2B5EF4-FFF2-40B4-BE49-F238E27FC236}">
                <a16:creationId xmlns:a16="http://schemas.microsoft.com/office/drawing/2014/main" id="{BBB2AB01-3B0F-4EF3-AD2C-DE4CD68F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[ID and assigned requirement]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[Current implementation and inheritance]</a:t>
            </a:r>
          </a:p>
        </p:txBody>
      </p:sp>
      <p:sp>
        <p:nvSpPr>
          <p:cNvPr id="4" name="field-1">
            <a:extLst xmlns:a="http://schemas.openxmlformats.org/drawingml/2006/main">
              <a:ext uri="{FF2B5EF4-FFF2-40B4-BE49-F238E27FC236}">
                <a16:creationId xmlns:a16="http://schemas.microsoft.com/office/drawing/2014/main" id="{4B1EAAD7-6B1B-4FBE-8222-F882A632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Change effect</a:t>
            </a:r>
          </a:p>
        </p:txBody>
      </p:sp>
      <p:sp>
        <p:nvSpPr>
          <p:cNvPr id="5" name="prompt-1">
            <a:extLst xmlns:a="http://schemas.openxmlformats.org/drawingml/2006/main">
              <a:ext uri="{FF2B5EF4-FFF2-40B4-BE49-F238E27FC236}">
                <a16:creationId xmlns:a16="http://schemas.microsoft.com/office/drawing/2014/main" id="{45B4CA2E-353E-4771-A34B-2F4F54BE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[Improves / degrades / unknown]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[Mechanism and mission consequence]</a:t>
            </a:r>
          </a:p>
        </p:txBody>
      </p:sp>
      <p:sp>
        <p:nvSpPr>
          <p:cNvPr id="6" name="field-2">
            <a:extLst xmlns:a="http://schemas.openxmlformats.org/drawingml/2006/main">
              <a:ext uri="{FF2B5EF4-FFF2-40B4-BE49-F238E27FC236}">
                <a16:creationId xmlns:a16="http://schemas.microsoft.com/office/drawing/2014/main" id="{D527BB78-4A5C-44FB-9C8F-4F59A853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7" name="prompt-2">
            <a:extLst xmlns:a="http://schemas.openxmlformats.org/drawingml/2006/main">
              <a:ext uri="{FF2B5EF4-FFF2-40B4-BE49-F238E27FC236}">
                <a16:creationId xmlns:a16="http://schemas.microsoft.com/office/drawing/2014/main" id="{EC329E2C-7815-4B5F-BA2A-818F6D52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[Artifact ID, version, date, section]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[Coverage and limitations]</a:t>
            </a:r>
          </a:p>
        </p:txBody>
      </p:sp>
      <p:sp>
        <p:nvSpPr>
          <p:cNvPr id="8" name="field-3">
            <a:extLst xmlns:a="http://schemas.openxmlformats.org/drawingml/2006/main">
              <a:ext uri="{FF2B5EF4-FFF2-40B4-BE49-F238E27FC236}">
                <a16:creationId xmlns:a16="http://schemas.microsoft.com/office/drawing/2014/main" id="{F3F2723A-AD88-4CB0-96DD-752B87C8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Disposition</a:t>
            </a:r>
          </a:p>
        </p:txBody>
      </p:sp>
      <p:sp>
        <p:nvSpPr>
          <p:cNvPr id="9" name="prompt-3">
            <a:extLst xmlns:a="http://schemas.openxmlformats.org/drawingml/2006/main">
              <a:ext uri="{FF2B5EF4-FFF2-40B4-BE49-F238E27FC236}">
                <a16:creationId xmlns:a16="http://schemas.microsoft.com/office/drawing/2014/main" id="{7CCECB2E-58A4-4FAE-AF84-78D62A2C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[Mitigation, validation needed, responsible role]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[Duplicate this slide for additional controls]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2DCE5B38-3CD3-44DF-81F2-DC936D3C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736E"/>
                </a:solidFill>
                <a:latin typeface="Arial"/>
                <a:ea typeface="Arial"/>
                <a:cs typeface="Arial"/>
              </a:rPr>
              <a:t>CCoE   /   Draft template v0.1   /   04</a:t>
            </a:r>
          </a:p>
        </p:txBody>
      </p:sp>
    </p:spTree>
    <p:extLst>
      <p:ext uri="{BB962C8B-B14F-4D97-AF65-F5344CB8AC3E}">
        <p14:creationId xmlns:p14="http://schemas.microsoft.com/office/powerpoint/2010/main" val="21466908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0A6B01AC-4811-4EBE-AA3D-5067A4D8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B5320"/>
                </a:solidFill>
                <a:latin typeface="Arial"/>
                <a:ea typeface="Arial"/>
                <a:cs typeface="Arial"/>
              </a:rPr>
              <a:t>Risk analysis</a:t>
            </a:r>
          </a:p>
        </p:txBody>
      </p:sp>
      <p:sp>
        <p:nvSpPr>
          <p:cNvPr id="2" name="field-0">
            <a:extLst xmlns:a="http://schemas.openxmlformats.org/drawingml/2006/main">
              <a:ext uri="{FF2B5EF4-FFF2-40B4-BE49-F238E27FC236}">
                <a16:creationId xmlns:a16="http://schemas.microsoft.com/office/drawing/2014/main" id="{F0D96CC7-BCE9-425A-8457-B71C8985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Risk statement</a:t>
            </a:r>
          </a:p>
        </p:txBody>
      </p:sp>
      <p:sp>
        <p:nvSpPr>
          <p:cNvPr id="3" name="prompt-0">
            <a:extLst xmlns:a="http://schemas.openxmlformats.org/drawingml/2006/main">
              <a:ext uri="{FF2B5EF4-FFF2-40B4-BE49-F238E27FC236}">
                <a16:creationId xmlns:a16="http://schemas.microsoft.com/office/drawing/2014/main" id="{813C4221-BEEA-41F1-9889-6A2F87A3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Because [exposure or weakness], [threat event] could cause [mission or data consequence].</a:t>
            </a:r>
          </a:p>
        </p:txBody>
      </p:sp>
      <p:sp>
        <p:nvSpPr>
          <p:cNvPr id="4" name="field-1">
            <a:extLst xmlns:a="http://schemas.openxmlformats.org/drawingml/2006/main">
              <a:ext uri="{FF2B5EF4-FFF2-40B4-BE49-F238E27FC236}">
                <a16:creationId xmlns:a16="http://schemas.microsoft.com/office/drawing/2014/main" id="{CFFECF8E-A02B-4F58-A578-0F5E7AB7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Initial risk</a:t>
            </a:r>
          </a:p>
        </p:txBody>
      </p:sp>
      <p:sp>
        <p:nvSpPr>
          <p:cNvPr id="5" name="prompt-1">
            <a:extLst xmlns:a="http://schemas.openxmlformats.org/drawingml/2006/main">
              <a:ext uri="{FF2B5EF4-FFF2-40B4-BE49-F238E27FC236}">
                <a16:creationId xmlns:a16="http://schemas.microsoft.com/office/drawing/2014/main" id="{88A9353B-6EA7-43E3-8E7E-1B2B407D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[Approved method and version]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[Likelihood, impact, rating, and rationale]</a:t>
            </a:r>
          </a:p>
        </p:txBody>
      </p:sp>
      <p:sp>
        <p:nvSpPr>
          <p:cNvPr id="6" name="field-2">
            <a:extLst xmlns:a="http://schemas.openxmlformats.org/drawingml/2006/main">
              <a:ext uri="{FF2B5EF4-FFF2-40B4-BE49-F238E27FC236}">
                <a16:creationId xmlns:a16="http://schemas.microsoft.com/office/drawing/2014/main" id="{C4337CA8-612B-4334-A385-2A50A470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Treatment and evidence</a:t>
            </a:r>
          </a:p>
        </p:txBody>
      </p:sp>
      <p:sp>
        <p:nvSpPr>
          <p:cNvPr id="7" name="prompt-2">
            <a:extLst xmlns:a="http://schemas.openxmlformats.org/drawingml/2006/main">
              <a:ext uri="{FF2B5EF4-FFF2-40B4-BE49-F238E27FC236}">
                <a16:creationId xmlns:a16="http://schemas.microsoft.com/office/drawing/2014/main" id="{17BE4482-3CCD-4DDD-9E66-3A886964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[Safeguard, owner, completion date]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[Planned or demonstrated, evidence ID]</a:t>
            </a:r>
          </a:p>
        </p:txBody>
      </p:sp>
      <p:sp>
        <p:nvSpPr>
          <p:cNvPr id="8" name="field-3">
            <a:extLst xmlns:a="http://schemas.openxmlformats.org/drawingml/2006/main">
              <a:ext uri="{FF2B5EF4-FFF2-40B4-BE49-F238E27FC236}">
                <a16:creationId xmlns:a16="http://schemas.microsoft.com/office/drawing/2014/main" id="{41C9DD35-D362-4EB5-8DF3-22B5816A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Residual risk and decision</a:t>
            </a:r>
          </a:p>
        </p:txBody>
      </p:sp>
      <p:sp>
        <p:nvSpPr>
          <p:cNvPr id="9" name="prompt-3">
            <a:extLst xmlns:a="http://schemas.openxmlformats.org/drawingml/2006/main">
              <a:ext uri="{FF2B5EF4-FFF2-40B4-BE49-F238E27FC236}">
                <a16:creationId xmlns:a16="http://schemas.microsoft.com/office/drawing/2014/main" id="{BF579C4E-91B9-411B-A5D8-9DA4CC8A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[Rating after verified treatment, or conditional estimate]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[Unknowns and authorized decision maker]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0DEC3E65-EA92-4DE2-BF03-12B79381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736E"/>
                </a:solidFill>
                <a:latin typeface="Arial"/>
                <a:ea typeface="Arial"/>
                <a:cs typeface="Arial"/>
              </a:rPr>
              <a:t>CCoE   /   Draft template v0.1   /   05</a:t>
            </a:r>
          </a:p>
        </p:txBody>
      </p:sp>
    </p:spTree>
    <p:extLst>
      <p:ext uri="{BB962C8B-B14F-4D97-AF65-F5344CB8AC3E}">
        <p14:creationId xmlns:p14="http://schemas.microsoft.com/office/powerpoint/2010/main" val="14189303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B66D35C1-D832-43D3-8DAF-CE7341CA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B5320"/>
                </a:solidFill>
                <a:latin typeface="Arial"/>
                <a:ea typeface="Arial"/>
                <a:cs typeface="Arial"/>
              </a:rPr>
              <a:t>Test results</a:t>
            </a:r>
          </a:p>
        </p:txBody>
      </p:sp>
      <p:sp>
        <p:nvSpPr>
          <p:cNvPr id="2" name="field-0">
            <a:extLst xmlns:a="http://schemas.openxmlformats.org/drawingml/2006/main">
              <a:ext uri="{FF2B5EF4-FFF2-40B4-BE49-F238E27FC236}">
                <a16:creationId xmlns:a16="http://schemas.microsoft.com/office/drawing/2014/main" id="{BF43257C-ED53-4825-90D9-2BF00E1F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Scope and environment</a:t>
            </a:r>
          </a:p>
        </p:txBody>
      </p:sp>
      <p:sp>
        <p:nvSpPr>
          <p:cNvPr id="3" name="prompt-0">
            <a:extLst xmlns:a="http://schemas.openxmlformats.org/drawingml/2006/main">
              <a:ext uri="{FF2B5EF4-FFF2-40B4-BE49-F238E27FC236}">
                <a16:creationId xmlns:a16="http://schemas.microsoft.com/office/drawing/2014/main" id="{161CF989-F0F5-4382-B838-DAFEB778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[Test baseline, environment, tools, tester, date]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[Differences from production]</a:t>
            </a:r>
          </a:p>
        </p:txBody>
      </p:sp>
      <p:sp>
        <p:nvSpPr>
          <p:cNvPr id="4" name="field-1">
            <a:extLst xmlns:a="http://schemas.openxmlformats.org/drawingml/2006/main">
              <a:ext uri="{FF2B5EF4-FFF2-40B4-BE49-F238E27FC236}">
                <a16:creationId xmlns:a16="http://schemas.microsoft.com/office/drawing/2014/main" id="{977FE070-64F5-4564-A76F-0161E9B1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Acceptance criteria</a:t>
            </a:r>
          </a:p>
        </p:txBody>
      </p:sp>
      <p:sp>
        <p:nvSpPr>
          <p:cNvPr id="5" name="prompt-1">
            <a:extLst xmlns:a="http://schemas.openxmlformats.org/drawingml/2006/main">
              <a:ext uri="{FF2B5EF4-FFF2-40B4-BE49-F238E27FC236}">
                <a16:creationId xmlns:a16="http://schemas.microsoft.com/office/drawing/2014/main" id="{12452B64-274B-417B-99E6-97CA5E54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[Observable pass criteria for each affected security function]</a:t>
            </a:r>
          </a:p>
        </p:txBody>
      </p:sp>
      <p:sp>
        <p:nvSpPr>
          <p:cNvPr id="6" name="field-2">
            <a:extLst xmlns:a="http://schemas.openxmlformats.org/drawingml/2006/main">
              <a:ext uri="{FF2B5EF4-FFF2-40B4-BE49-F238E27FC236}">
                <a16:creationId xmlns:a16="http://schemas.microsoft.com/office/drawing/2014/main" id="{39A2DEFB-4EF1-4BCF-AAD8-03DC23B3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Results and evidence</a:t>
            </a:r>
          </a:p>
        </p:txBody>
      </p:sp>
      <p:sp>
        <p:nvSpPr>
          <p:cNvPr id="7" name="prompt-2">
            <a:extLst xmlns:a="http://schemas.openxmlformats.org/drawingml/2006/main">
              <a:ext uri="{FF2B5EF4-FFF2-40B4-BE49-F238E27FC236}">
                <a16:creationId xmlns:a16="http://schemas.microsoft.com/office/drawing/2014/main" id="{21D392A3-3A5E-4A03-AE8D-E0EFB8FE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[Test ID, expected and actual result, pass/fail]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[Report location and unresolved issues]</a:t>
            </a:r>
          </a:p>
        </p:txBody>
      </p:sp>
      <p:sp>
        <p:nvSpPr>
          <p:cNvPr id="8" name="field-3">
            <a:extLst xmlns:a="http://schemas.openxmlformats.org/drawingml/2006/main">
              <a:ext uri="{FF2B5EF4-FFF2-40B4-BE49-F238E27FC236}">
                <a16:creationId xmlns:a16="http://schemas.microsoft.com/office/drawing/2014/main" id="{A2206749-C02B-4FD6-B642-23A638C2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Coverage and follow-up</a:t>
            </a:r>
          </a:p>
        </p:txBody>
      </p:sp>
      <p:sp>
        <p:nvSpPr>
          <p:cNvPr id="9" name="prompt-3">
            <a:extLst xmlns:a="http://schemas.openxmlformats.org/drawingml/2006/main">
              <a:ext uri="{FF2B5EF4-FFF2-40B4-BE49-F238E27FC236}">
                <a16:creationId xmlns:a16="http://schemas.microsoft.com/office/drawing/2014/main" id="{4A57F932-E994-4442-8AE6-A705C724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[Negative tests, regression tests, missed scope]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[Required production verification]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D364C40A-3F94-43E6-AC8F-9A315244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736E"/>
                </a:solidFill>
                <a:latin typeface="Arial"/>
                <a:ea typeface="Arial"/>
                <a:cs typeface="Arial"/>
              </a:rPr>
              <a:t>CCoE   /   Draft template v0.1   /   06</a:t>
            </a:r>
          </a:p>
        </p:txBody>
      </p:sp>
    </p:spTree>
    <p:extLst>
      <p:ext uri="{BB962C8B-B14F-4D97-AF65-F5344CB8AC3E}">
        <p14:creationId xmlns:p14="http://schemas.microsoft.com/office/powerpoint/2010/main" val="5619791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EE21204D-9E17-42D7-BE0C-2BA5E164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B5320"/>
                </a:solidFill>
                <a:latin typeface="Arial"/>
                <a:ea typeface="Arial"/>
                <a:cs typeface="Arial"/>
              </a:rPr>
              <a:t>Implementation and rollback</a:t>
            </a:r>
          </a:p>
        </p:txBody>
      </p:sp>
      <p:sp>
        <p:nvSpPr>
          <p:cNvPr id="2" name="field-0">
            <a:extLst xmlns:a="http://schemas.openxmlformats.org/drawingml/2006/main">
              <a:ext uri="{FF2B5EF4-FFF2-40B4-BE49-F238E27FC236}">
                <a16:creationId xmlns:a16="http://schemas.microsoft.com/office/drawing/2014/main" id="{1D3D50A7-1EA2-4D2E-9607-3194FE2A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Deployment plan</a:t>
            </a:r>
          </a:p>
        </p:txBody>
      </p:sp>
      <p:sp>
        <p:nvSpPr>
          <p:cNvPr id="3" name="prompt-0">
            <a:extLst xmlns:a="http://schemas.openxmlformats.org/drawingml/2006/main">
              <a:ext uri="{FF2B5EF4-FFF2-40B4-BE49-F238E27FC236}">
                <a16:creationId xmlns:a16="http://schemas.microsoft.com/office/drawing/2014/main" id="{291899B9-F116-4AA6-91EF-9C46616F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[Approved window, exact release, executor]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[Prerequisites and mission coordination]</a:t>
            </a:r>
          </a:p>
        </p:txBody>
      </p:sp>
      <p:sp>
        <p:nvSpPr>
          <p:cNvPr id="4" name="field-1">
            <a:extLst xmlns:a="http://schemas.openxmlformats.org/drawingml/2006/main">
              <a:ext uri="{FF2B5EF4-FFF2-40B4-BE49-F238E27FC236}">
                <a16:creationId xmlns:a16="http://schemas.microsoft.com/office/drawing/2014/main" id="{3C262657-B348-4308-8277-CE03408F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Stop conditions</a:t>
            </a:r>
          </a:p>
        </p:txBody>
      </p:sp>
      <p:sp>
        <p:nvSpPr>
          <p:cNvPr id="5" name="prompt-1">
            <a:extLst xmlns:a="http://schemas.openxmlformats.org/drawingml/2006/main">
              <a:ext uri="{FF2B5EF4-FFF2-40B4-BE49-F238E27FC236}">
                <a16:creationId xmlns:a16="http://schemas.microsoft.com/office/drawing/2014/main" id="{79A91026-52D0-4475-BD5C-BD77CD24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[Measurable trigger and who can halt work]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[Communication and escalation]</a:t>
            </a:r>
          </a:p>
        </p:txBody>
      </p:sp>
      <p:sp>
        <p:nvSpPr>
          <p:cNvPr id="6" name="field-2">
            <a:extLst xmlns:a="http://schemas.openxmlformats.org/drawingml/2006/main">
              <a:ext uri="{FF2B5EF4-FFF2-40B4-BE49-F238E27FC236}">
                <a16:creationId xmlns:a16="http://schemas.microsoft.com/office/drawing/2014/main" id="{A76518A4-B69D-4467-89EB-91689858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Rollback plan</a:t>
            </a:r>
          </a:p>
        </p:txBody>
      </p:sp>
      <p:sp>
        <p:nvSpPr>
          <p:cNvPr id="7" name="prompt-2">
            <a:extLst xmlns:a="http://schemas.openxmlformats.org/drawingml/2006/main">
              <a:ext uri="{FF2B5EF4-FFF2-40B4-BE49-F238E27FC236}">
                <a16:creationId xmlns:a16="http://schemas.microsoft.com/office/drawing/2014/main" id="{D48EA9A2-7528-4228-84F4-5F3AB6D8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[Procedure version, authority, latest decision time]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[Data restore and configuration recovery]</a:t>
            </a:r>
          </a:p>
        </p:txBody>
      </p:sp>
      <p:sp>
        <p:nvSpPr>
          <p:cNvPr id="8" name="field-3">
            <a:extLst xmlns:a="http://schemas.openxmlformats.org/drawingml/2006/main">
              <a:ext uri="{FF2B5EF4-FFF2-40B4-BE49-F238E27FC236}">
                <a16:creationId xmlns:a16="http://schemas.microsoft.com/office/drawing/2014/main" id="{4A73D520-7316-4265-92C1-9566A116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9" name="prompt-3">
            <a:extLst xmlns:a="http://schemas.openxmlformats.org/drawingml/2006/main">
              <a:ext uri="{FF2B5EF4-FFF2-40B4-BE49-F238E27FC236}">
                <a16:creationId xmlns:a16="http://schemas.microsoft.com/office/drawing/2014/main" id="{25D49E3B-203C-4E95-A5FF-79187DDA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[Rollback rehearsal evidence]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[Production security and mission checks]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96C5143F-FA59-401B-860D-55375797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736E"/>
                </a:solidFill>
                <a:latin typeface="Arial"/>
                <a:ea typeface="Arial"/>
                <a:cs typeface="Arial"/>
              </a:rPr>
              <a:t>CCoE   /   Draft template v0.1   /   07</a:t>
            </a:r>
          </a:p>
        </p:txBody>
      </p:sp>
    </p:spTree>
    <p:extLst>
      <p:ext uri="{BB962C8B-B14F-4D97-AF65-F5344CB8AC3E}">
        <p14:creationId xmlns:p14="http://schemas.microsoft.com/office/powerpoint/2010/main" val="19642516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C17D1761-9263-4E02-9CE8-EFF0AB5E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B5320"/>
                </a:solidFill>
                <a:latin typeface="Arial"/>
                <a:ea typeface="Arial"/>
                <a:cs typeface="Arial"/>
              </a:rPr>
              <a:t>Authorization review</a:t>
            </a:r>
          </a:p>
        </p:txBody>
      </p:sp>
      <p:sp>
        <p:nvSpPr>
          <p:cNvPr id="2" name="field-0">
            <a:extLst xmlns:a="http://schemas.openxmlformats.org/drawingml/2006/main">
              <a:ext uri="{FF2B5EF4-FFF2-40B4-BE49-F238E27FC236}">
                <a16:creationId xmlns:a16="http://schemas.microsoft.com/office/drawing/2014/main" id="{40F18C8E-34C3-492E-891B-C761D971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Screening rationale</a:t>
            </a:r>
          </a:p>
        </p:txBody>
      </p:sp>
      <p:sp>
        <p:nvSpPr>
          <p:cNvPr id="3" name="prompt-0">
            <a:extLst xmlns:a="http://schemas.openxmlformats.org/drawingml/2006/main">
              <a:ext uri="{FF2B5EF4-FFF2-40B4-BE49-F238E27FC236}">
                <a16:creationId xmlns:a16="http://schemas.microsoft.com/office/drawing/2014/main" id="{7A2F8F91-F183-462F-95E2-91F1AD29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[Effects on boundary, data, architecture, inherited controls, and authorization terms]</a:t>
            </a:r>
          </a:p>
        </p:txBody>
      </p:sp>
      <p:sp>
        <p:nvSpPr>
          <p:cNvPr id="4" name="field-1">
            <a:extLst xmlns:a="http://schemas.openxmlformats.org/drawingml/2006/main">
              <a:ext uri="{FF2B5EF4-FFF2-40B4-BE49-F238E27FC236}">
                <a16:creationId xmlns:a16="http://schemas.microsoft.com/office/drawing/2014/main" id="{A29BAE85-AFDC-4651-9C8D-40BE49F9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Required coordination</a:t>
            </a:r>
          </a:p>
        </p:txBody>
      </p:sp>
      <p:sp>
        <p:nvSpPr>
          <p:cNvPr id="5" name="prompt-1">
            <a:extLst xmlns:a="http://schemas.openxmlformats.org/drawingml/2006/main">
              <a:ext uri="{FF2B5EF4-FFF2-40B4-BE49-F238E27FC236}">
                <a16:creationId xmlns:a16="http://schemas.microsoft.com/office/drawing/2014/main" id="{0C2D0846-D943-47C3-AAB4-CED24AC3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[System owner, ISSM, assessor, provider, and AO chain as applicable]</a:t>
            </a:r>
          </a:p>
        </p:txBody>
      </p:sp>
      <p:sp>
        <p:nvSpPr>
          <p:cNvPr id="6" name="field-2">
            <a:extLst xmlns:a="http://schemas.openxmlformats.org/drawingml/2006/main">
              <a:ext uri="{FF2B5EF4-FFF2-40B4-BE49-F238E27FC236}">
                <a16:creationId xmlns:a16="http://schemas.microsoft.com/office/drawing/2014/main" id="{68F7E34E-16AD-43C2-8495-525B9F8C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Authorization consequence</a:t>
            </a:r>
          </a:p>
        </p:txBody>
      </p:sp>
      <p:sp>
        <p:nvSpPr>
          <p:cNvPr id="7" name="prompt-2">
            <a:extLst xmlns:a="http://schemas.openxmlformats.org/drawingml/2006/main">
              <a:ext uri="{FF2B5EF4-FFF2-40B4-BE49-F238E27FC236}">
                <a16:creationId xmlns:a16="http://schemas.microsoft.com/office/drawing/2014/main" id="{581F2554-9A8B-46E8-B551-E9374BD8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[AO or authorized delegate determination]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[Authority, date, conditions, or pending action]</a:t>
            </a:r>
          </a:p>
        </p:txBody>
      </p:sp>
      <p:sp>
        <p:nvSpPr>
          <p:cNvPr id="8" name="field-3">
            <a:extLst xmlns:a="http://schemas.openxmlformats.org/drawingml/2006/main">
              <a:ext uri="{FF2B5EF4-FFF2-40B4-BE49-F238E27FC236}">
                <a16:creationId xmlns:a16="http://schemas.microsoft.com/office/drawing/2014/main" id="{13FBEE75-DE43-4918-8AD7-E9C5BFCA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Change decision record</a:t>
            </a:r>
          </a:p>
        </p:txBody>
      </p:sp>
      <p:sp>
        <p:nvSpPr>
          <p:cNvPr id="9" name="prompt-3">
            <a:extLst xmlns:a="http://schemas.openxmlformats.org/drawingml/2006/main">
              <a:ext uri="{FF2B5EF4-FFF2-40B4-BE49-F238E27FC236}">
                <a16:creationId xmlns:a16="http://schemas.microsoft.com/office/drawing/2014/main" id="{27502519-849D-4252-9BB3-A1EF4E05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[CCB or designated authority decision]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[Date, rationale, scope, and conditions]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13B973CD-7B1A-4D6D-ABA3-C015ADEB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736E"/>
                </a:solidFill>
                <a:latin typeface="Arial"/>
                <a:ea typeface="Arial"/>
                <a:cs typeface="Arial"/>
              </a:rPr>
              <a:t>CCoE   /   Draft template v0.1   /   08</a:t>
            </a:r>
          </a:p>
        </p:txBody>
      </p:sp>
    </p:spTree>
    <p:extLst>
      <p:ext uri="{BB962C8B-B14F-4D97-AF65-F5344CB8AC3E}">
        <p14:creationId xmlns:p14="http://schemas.microsoft.com/office/powerpoint/2010/main" val="20677963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57043B73-3B6D-4B55-9ACE-A2EE628A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B5320"/>
                </a:solidFill>
                <a:latin typeface="Arial"/>
                <a:ea typeface="Arial"/>
                <a:cs typeface="Arial"/>
              </a:rPr>
              <a:t>Production verification and closure</a:t>
            </a:r>
          </a:p>
        </p:txBody>
      </p:sp>
      <p:sp>
        <p:nvSpPr>
          <p:cNvPr id="2" name="field-0">
            <a:extLst xmlns:a="http://schemas.openxmlformats.org/drawingml/2006/main">
              <a:ext uri="{FF2B5EF4-FFF2-40B4-BE49-F238E27FC236}">
                <a16:creationId xmlns:a16="http://schemas.microsoft.com/office/drawing/2014/main" id="{F9559A30-2392-449D-AEB6-FA48B988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Implemented state</a:t>
            </a:r>
          </a:p>
        </p:txBody>
      </p:sp>
      <p:sp>
        <p:nvSpPr>
          <p:cNvPr id="3" name="prompt-0">
            <a:extLst xmlns:a="http://schemas.openxmlformats.org/drawingml/2006/main">
              <a:ext uri="{FF2B5EF4-FFF2-40B4-BE49-F238E27FC236}">
                <a16:creationId xmlns:a16="http://schemas.microsoft.com/office/drawing/2014/main" id="{B4EB5A60-82FB-47FD-BFF9-A6B844EE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[Deployed version, baseline, date, scope]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[Deviations from approved change]</a:t>
            </a:r>
          </a:p>
        </p:txBody>
      </p:sp>
      <p:sp>
        <p:nvSpPr>
          <p:cNvPr id="4" name="field-1">
            <a:extLst xmlns:a="http://schemas.openxmlformats.org/drawingml/2006/main">
              <a:ext uri="{FF2B5EF4-FFF2-40B4-BE49-F238E27FC236}">
                <a16:creationId xmlns:a16="http://schemas.microsoft.com/office/drawing/2014/main" id="{8F057006-4A40-4180-9386-C4A08E2F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Security and mission checks</a:t>
            </a:r>
          </a:p>
        </p:txBody>
      </p:sp>
      <p:sp>
        <p:nvSpPr>
          <p:cNvPr id="5" name="prompt-1">
            <a:extLst xmlns:a="http://schemas.openxmlformats.org/drawingml/2006/main">
              <a:ext uri="{FF2B5EF4-FFF2-40B4-BE49-F238E27FC236}">
                <a16:creationId xmlns:a16="http://schemas.microsoft.com/office/drawing/2014/main" id="{7E4C4AE6-B307-41B8-8884-E0BE15D7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[Actual test results and evidence]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[Exceptions, incidents, or rollback outcome]</a:t>
            </a:r>
          </a:p>
        </p:txBody>
      </p:sp>
      <p:sp>
        <p:nvSpPr>
          <p:cNvPr id="6" name="field-2">
            <a:extLst xmlns:a="http://schemas.openxmlformats.org/drawingml/2006/main">
              <a:ext uri="{FF2B5EF4-FFF2-40B4-BE49-F238E27FC236}">
                <a16:creationId xmlns:a16="http://schemas.microsoft.com/office/drawing/2014/main" id="{5764EE2D-875D-4417-85A4-8FCED0B0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Updated records</a:t>
            </a:r>
          </a:p>
        </p:txBody>
      </p:sp>
      <p:sp>
        <p:nvSpPr>
          <p:cNvPr id="7" name="prompt-2">
            <a:extLst xmlns:a="http://schemas.openxmlformats.org/drawingml/2006/main">
              <a:ext uri="{FF2B5EF4-FFF2-40B4-BE49-F238E27FC236}">
                <a16:creationId xmlns:a16="http://schemas.microsoft.com/office/drawing/2014/main" id="{E36DA442-B21B-4E2E-8579-29DA52E1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[eMASS narratives, baseline, diagrams, plans]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[Existing POA&amp;M entries for open deficiencies]</a:t>
            </a:r>
          </a:p>
        </p:txBody>
      </p:sp>
      <p:sp>
        <p:nvSpPr>
          <p:cNvPr id="8" name="field-3">
            <a:extLst xmlns:a="http://schemas.openxmlformats.org/drawingml/2006/main">
              <a:ext uri="{FF2B5EF4-FFF2-40B4-BE49-F238E27FC236}">
                <a16:creationId xmlns:a16="http://schemas.microsoft.com/office/drawing/2014/main" id="{9B3452C1-FA8D-4B83-91AF-9BBBA5C2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9" name="prompt-3">
            <a:extLst xmlns:a="http://schemas.openxmlformats.org/drawingml/2006/main">
              <a:ext uri="{FF2B5EF4-FFF2-40B4-BE49-F238E27FC236}">
                <a16:creationId xmlns:a16="http://schemas.microsoft.com/office/drawing/2014/main" id="{DA91A323-7EAB-4109-B8D2-DF19CA0E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[Condition owners and status]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[Reviewer, authority, date, and monitoring]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9C79A661-E2C3-42CB-99A4-29E6EF1F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736E"/>
                </a:solidFill>
                <a:latin typeface="Arial"/>
                <a:ea typeface="Arial"/>
                <a:cs typeface="Arial"/>
              </a:rPr>
              <a:t>CCoE   /   Draft template v0.1   /   09</a:t>
            </a:r>
          </a:p>
        </p:txBody>
      </p:sp>
    </p:spTree>
    <p:extLst>
      <p:ext uri="{BB962C8B-B14F-4D97-AF65-F5344CB8AC3E}">
        <p14:creationId xmlns:p14="http://schemas.microsoft.com/office/powerpoint/2010/main" val="18286668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8FAA0AA8-EB8F-4EDC-AE8A-6C3A8223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B5320"/>
                </a:solidFill>
                <a:latin typeface="Arial"/>
                <a:ea typeface="Arial"/>
                <a:cs typeface="Arial"/>
              </a:rPr>
              <a:t>Fictional example</a:t>
            </a:r>
          </a:p>
        </p:txBody>
      </p:sp>
      <p:sp>
        <p:nvSpPr>
          <p:cNvPr id="2" name="field-0">
            <a:extLst xmlns:a="http://schemas.openxmlformats.org/drawingml/2006/main">
              <a:ext uri="{FF2B5EF4-FFF2-40B4-BE49-F238E27FC236}">
                <a16:creationId xmlns:a16="http://schemas.microsoft.com/office/drawing/2014/main" id="{2BFCCF0D-8505-43B3-90C5-11F76BB4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Proposed change</a:t>
            </a:r>
          </a:p>
        </p:txBody>
      </p:sp>
      <p:sp>
        <p:nvSpPr>
          <p:cNvPr id="3" name="prompt-0">
            <a:extLst xmlns:a="http://schemas.openxmlformats.org/drawingml/2006/main">
              <a:ext uri="{FF2B5EF4-FFF2-40B4-BE49-F238E27FC236}">
                <a16:creationId xmlns:a16="http://schemas.microsoft.com/office/drawing/2014/main" id="{184E79C0-B2EA-4432-8A96-3A401A8F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Replace log agents on two simulation-support servers. A vendor option enables outbound diagnostics.</a:t>
            </a:r>
          </a:p>
        </p:txBody>
      </p:sp>
      <p:sp>
        <p:nvSpPr>
          <p:cNvPr id="4" name="field-1">
            <a:extLst xmlns:a="http://schemas.openxmlformats.org/drawingml/2006/main">
              <a:ext uri="{FF2B5EF4-FFF2-40B4-BE49-F238E27FC236}">
                <a16:creationId xmlns:a16="http://schemas.microsoft.com/office/drawing/2014/main" id="{C71EAA18-32E1-4A9D-A5F9-E3AA7FA2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Observed impact</a:t>
            </a:r>
          </a:p>
        </p:txBody>
      </p:sp>
      <p:sp>
        <p:nvSpPr>
          <p:cNvPr id="5" name="prompt-1">
            <a:extLst xmlns:a="http://schemas.openxmlformats.org/drawingml/2006/main">
              <a:ext uri="{FF2B5EF4-FFF2-40B4-BE49-F238E27FC236}">
                <a16:creationId xmlns:a16="http://schemas.microsoft.com/office/drawing/2014/main" id="{F62E10AA-456D-4B87-B992-53332A93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One node omits failed-logon events. The new diagnostics flow creates an external path.</a:t>
            </a:r>
          </a:p>
        </p:txBody>
      </p:sp>
      <p:sp>
        <p:nvSpPr>
          <p:cNvPr id="6" name="field-2">
            <a:extLst xmlns:a="http://schemas.openxmlformats.org/drawingml/2006/main">
              <a:ext uri="{FF2B5EF4-FFF2-40B4-BE49-F238E27FC236}">
                <a16:creationId xmlns:a16="http://schemas.microsoft.com/office/drawing/2014/main" id="{F3793F77-12C3-4B87-BC90-FD22CFA3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Treatment and evidence</a:t>
            </a:r>
          </a:p>
        </p:txBody>
      </p:sp>
      <p:sp>
        <p:nvSpPr>
          <p:cNvPr id="7" name="prompt-2">
            <a:extLst xmlns:a="http://schemas.openxmlformats.org/drawingml/2006/main">
              <a:ext uri="{FF2B5EF4-FFF2-40B4-BE49-F238E27FC236}">
                <a16:creationId xmlns:a16="http://schemas.microsoft.com/office/drawing/2014/main" id="{CBF6239A-4204-48D5-8385-C03D139B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Disable diagnostics and restore the event subscription. Retest logging, detection, transport, and rollback.</a:t>
            </a:r>
          </a:p>
        </p:txBody>
      </p:sp>
      <p:sp>
        <p:nvSpPr>
          <p:cNvPr id="8" name="field-3">
            <a:extLst xmlns:a="http://schemas.openxmlformats.org/drawingml/2006/main">
              <a:ext uri="{FF2B5EF4-FFF2-40B4-BE49-F238E27FC236}">
                <a16:creationId xmlns:a16="http://schemas.microsoft.com/office/drawing/2014/main" id="{263ACF69-5B25-4E25-9FC9-1C4642F3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9" name="prompt-3">
            <a:extLst xmlns:a="http://schemas.openxmlformats.org/drawingml/2006/main">
              <a:ext uri="{FF2B5EF4-FFF2-40B4-BE49-F238E27FC236}">
                <a16:creationId xmlns:a16="http://schemas.microsoft.com/office/drawing/2014/main" id="{C7F27DBD-DD97-4071-80FC-D3C3D70F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Defer pending passed tests and required approvals. Verify both nodes in production before closure.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CEBAEB90-7640-4DA6-B506-91645957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736E"/>
                </a:solidFill>
                <a:latin typeface="Arial"/>
                <a:ea typeface="Arial"/>
                <a:cs typeface="Arial"/>
              </a:rPr>
              <a:t>CCoE   /   Draft template v0.1   /   10</a:t>
            </a:r>
          </a:p>
        </p:txBody>
      </p:sp>
    </p:spTree>
    <p:extLst>
      <p:ext uri="{BB962C8B-B14F-4D97-AF65-F5344CB8AC3E}">
        <p14:creationId xmlns:p14="http://schemas.microsoft.com/office/powerpoint/2010/main" val="19968309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B904B6D6-6ADA-42B4-B9F4-A4412A73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B5320"/>
                </a:solidFill>
                <a:latin typeface="Arial"/>
                <a:ea typeface="Arial"/>
                <a:cs typeface="Arial"/>
              </a:rPr>
              <a:t>Preparation check</a:t>
            </a:r>
          </a:p>
        </p:txBody>
      </p:sp>
      <p:sp>
        <p:nvSpPr>
          <p:cNvPr id="2" name="field-0">
            <a:extLst xmlns:a="http://schemas.openxmlformats.org/drawingml/2006/main">
              <a:ext uri="{FF2B5EF4-FFF2-40B4-BE49-F238E27FC236}">
                <a16:creationId xmlns:a16="http://schemas.microsoft.com/office/drawing/2014/main" id="{E5202DC3-BE7E-4A5E-AE02-459E6BD1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Complete the analysis</a:t>
            </a:r>
          </a:p>
        </p:txBody>
      </p:sp>
      <p:sp>
        <p:nvSpPr>
          <p:cNvPr id="3" name="prompt-0">
            <a:extLst xmlns:a="http://schemas.openxmlformats.org/drawingml/2006/main">
              <a:ext uri="{FF2B5EF4-FFF2-40B4-BE49-F238E27FC236}">
                <a16:creationId xmlns:a16="http://schemas.microsoft.com/office/drawing/2014/main" id="{1DF67329-004A-4A00-9716-C6689D18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[Before/after scope and control effects]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[Evidence, risk rationale, and uncertainties]</a:t>
            </a:r>
          </a:p>
        </p:txBody>
      </p:sp>
      <p:sp>
        <p:nvSpPr>
          <p:cNvPr id="4" name="field-1">
            <a:extLst xmlns:a="http://schemas.openxmlformats.org/drawingml/2006/main">
              <a:ext uri="{FF2B5EF4-FFF2-40B4-BE49-F238E27FC236}">
                <a16:creationId xmlns:a16="http://schemas.microsoft.com/office/drawing/2014/main" id="{F5E601C3-05A6-4F4E-B80A-0341369D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Implementation readiness</a:t>
            </a:r>
          </a:p>
        </p:txBody>
      </p:sp>
      <p:sp>
        <p:nvSpPr>
          <p:cNvPr id="5" name="prompt-1">
            <a:extLst xmlns:a="http://schemas.openxmlformats.org/drawingml/2006/main">
              <a:ext uri="{FF2B5EF4-FFF2-40B4-BE49-F238E27FC236}">
                <a16:creationId xmlns:a16="http://schemas.microsoft.com/office/drawing/2014/main" id="{388112C0-81F0-49AA-A329-755A483B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[Accepted tests and known limitations]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[Measurable stop and rollback criteria]</a:t>
            </a:r>
          </a:p>
        </p:txBody>
      </p:sp>
      <p:sp>
        <p:nvSpPr>
          <p:cNvPr id="6" name="field-2">
            <a:extLst xmlns:a="http://schemas.openxmlformats.org/drawingml/2006/main">
              <a:ext uri="{FF2B5EF4-FFF2-40B4-BE49-F238E27FC236}">
                <a16:creationId xmlns:a16="http://schemas.microsoft.com/office/drawing/2014/main" id="{08338042-2CBD-4FB7-BD66-9A3E8941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Record decisions</a:t>
            </a:r>
          </a:p>
        </p:txBody>
      </p:sp>
      <p:sp>
        <p:nvSpPr>
          <p:cNvPr id="7" name="prompt-2">
            <a:extLst xmlns:a="http://schemas.openxmlformats.org/drawingml/2006/main">
              <a:ext uri="{FF2B5EF4-FFF2-40B4-BE49-F238E27FC236}">
                <a16:creationId xmlns:a16="http://schemas.microsoft.com/office/drawing/2014/main" id="{E0E3728B-2237-4B0C-A3E8-18951F8D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[Change authority and conditions]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[Separate authorization determination as applicable]</a:t>
            </a:r>
          </a:p>
        </p:txBody>
      </p:sp>
      <p:sp>
        <p:nvSpPr>
          <p:cNvPr id="8" name="field-3">
            <a:extLst xmlns:a="http://schemas.openxmlformats.org/drawingml/2006/main">
              <a:ext uri="{FF2B5EF4-FFF2-40B4-BE49-F238E27FC236}">
                <a16:creationId xmlns:a16="http://schemas.microsoft.com/office/drawing/2014/main" id="{4A4A1739-0F26-45CE-A624-BF03F28E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Complete the record</a:t>
            </a:r>
          </a:p>
        </p:txBody>
      </p:sp>
      <p:sp>
        <p:nvSpPr>
          <p:cNvPr id="9" name="prompt-3">
            <a:extLst xmlns:a="http://schemas.openxmlformats.org/drawingml/2006/main">
              <a:ext uri="{FF2B5EF4-FFF2-40B4-BE49-F238E27FC236}">
                <a16:creationId xmlns:a16="http://schemas.microsoft.com/office/drawing/2014/main" id="{72A666FA-21AB-4AE3-9878-515BB507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[Owners, dates, eMASS updates, production evidence]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[Remove training slides as appropriate]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B2F05A10-31BE-4B50-AF29-05CD822E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736E"/>
                </a:solidFill>
                <a:latin typeface="Arial"/>
                <a:ea typeface="Arial"/>
                <a:cs typeface="Arial"/>
              </a:rPr>
              <a:t>CCoE   /   Draft template v0.1   /   11</a:t>
            </a:r>
          </a:p>
        </p:txBody>
      </p:sp>
    </p:spTree>
    <p:extLst>
      <p:ext uri="{BB962C8B-B14F-4D97-AF65-F5344CB8AC3E}">
        <p14:creationId xmlns:p14="http://schemas.microsoft.com/office/powerpoint/2010/main" val="16282974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77725C86-87A7-4CFB-A9C1-50A85380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4B53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B5320"/>
                </a:solidFill>
                <a:latin typeface="Arial"/>
                <a:ea typeface="Arial"/>
                <a:cs typeface="Arial"/>
              </a:rPr>
              <a:t>References and local applicability</a:t>
            </a:r>
          </a:p>
        </p:txBody>
      </p:sp>
      <p:sp>
        <p:nvSpPr>
          <p:cNvPr id="2" name="field-0">
            <a:extLst xmlns:a="http://schemas.openxmlformats.org/drawingml/2006/main">
              <a:ext uri="{FF2B5EF4-FFF2-40B4-BE49-F238E27FC236}">
                <a16:creationId xmlns:a16="http://schemas.microsoft.com/office/drawing/2014/main" id="{B5D0D322-D3E5-48E6-93C2-2A2DE24E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Configuration analysis</a:t>
            </a:r>
          </a:p>
        </p:txBody>
      </p:sp>
      <p:sp>
        <p:nvSpPr>
          <p:cNvPr id="3" name="prompt-0">
            <a:extLst xmlns:a="http://schemas.openxmlformats.org/drawingml/2006/main">
              <a:ext uri="{FF2B5EF4-FFF2-40B4-BE49-F238E27FC236}">
                <a16:creationId xmlns:a16="http://schemas.microsoft.com/office/drawing/2014/main" id="{4EAA7986-7088-4437-90CB-FF2D4DB0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NIST SP 800-128, section 3.3.3 and Appendix G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Includes updates of 10 October 2019</a:t>
            </a:r>
          </a:p>
        </p:txBody>
      </p:sp>
      <p:sp>
        <p:nvSpPr>
          <p:cNvPr id="4" name="field-1">
            <a:extLst xmlns:a="http://schemas.openxmlformats.org/drawingml/2006/main">
              <a:ext uri="{FF2B5EF4-FFF2-40B4-BE49-F238E27FC236}">
                <a16:creationId xmlns:a16="http://schemas.microsoft.com/office/drawing/2014/main" id="{23042780-070D-482A-901F-DB899A30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Controls and monitoring</a:t>
            </a:r>
          </a:p>
        </p:txBody>
      </p:sp>
      <p:sp>
        <p:nvSpPr>
          <p:cNvPr id="5" name="prompt-1">
            <a:extLst xmlns:a="http://schemas.openxmlformats.org/drawingml/2006/main">
              <a:ext uri="{FF2B5EF4-FFF2-40B4-BE49-F238E27FC236}">
                <a16:creationId xmlns:a16="http://schemas.microsoft.com/office/drawing/2014/main" id="{21FBD02A-FAF3-49C9-8C87-0B7358F6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NIST SP 800-53 Rev. 5, CM-3 and CM-4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NIST SP 800-37 Rev. 2, Monitor tasks</a:t>
            </a:r>
          </a:p>
        </p:txBody>
      </p:sp>
      <p:sp>
        <p:nvSpPr>
          <p:cNvPr id="6" name="field-2">
            <a:extLst xmlns:a="http://schemas.openxmlformats.org/drawingml/2006/main">
              <a:ext uri="{FF2B5EF4-FFF2-40B4-BE49-F238E27FC236}">
                <a16:creationId xmlns:a16="http://schemas.microsoft.com/office/drawing/2014/main" id="{4CD645C4-9E8B-4917-A20B-CE01ADED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Army and command context</a:t>
            </a:r>
          </a:p>
        </p:txBody>
      </p:sp>
      <p:sp>
        <p:nvSpPr>
          <p:cNvPr id="7" name="prompt-2">
            <a:extLst xmlns:a="http://schemas.openxmlformats.org/drawingml/2006/main">
              <a:ext uri="{FF2B5EF4-FFF2-40B4-BE49-F238E27FC236}">
                <a16:creationId xmlns:a16="http://schemas.microsoft.com/office/drawing/2014/main" id="{A0258597-EA9B-467C-934A-24A7C0DA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AR 25-2 and DA Pam 25-2-14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Confirm current command orders and AO procedures</a:t>
            </a:r>
          </a:p>
        </p:txBody>
      </p:sp>
      <p:sp>
        <p:nvSpPr>
          <p:cNvPr id="8" name="field-3">
            <a:extLst xmlns:a="http://schemas.openxmlformats.org/drawingml/2006/main">
              <a:ext uri="{FF2B5EF4-FFF2-40B4-BE49-F238E27FC236}">
                <a16:creationId xmlns:a16="http://schemas.microsoft.com/office/drawing/2014/main" id="{5F69A4DB-A40C-4C59-B20A-749BEE4C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C73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C7321"/>
                </a:solidFill>
                <a:latin typeface="Arial"/>
                <a:ea typeface="Arial"/>
                <a:cs typeface="Arial"/>
              </a:rPr>
              <a:t>Template status</a:t>
            </a:r>
          </a:p>
        </p:txBody>
      </p:sp>
      <p:sp>
        <p:nvSpPr>
          <p:cNvPr id="9" name="prompt-3">
            <a:extLst xmlns:a="http://schemas.openxmlformats.org/drawingml/2006/main">
              <a:ext uri="{FF2B5EF4-FFF2-40B4-BE49-F238E27FC236}">
                <a16:creationId xmlns:a16="http://schemas.microsoft.com/office/drawing/2014/main" id="{06A26319-6009-4704-AE27-F728352A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672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Draft v0.1, 28 October 2026</a:t>
            </a:r>
          </a:p>
          <a:p xmlns:a="http://schemas.openxmlformats.org/drawingml/2006/main">
            <a:pPr>
              <a:defRPr sz="1875" b="0">
                <a:solidFill>
                  <a:srgbClr val="161B1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1B19"/>
                </a:solidFill>
                <a:latin typeface="Arial"/>
                <a:ea typeface="Arial"/>
                <a:cs typeface="Arial"/>
              </a:rPr>
              <a:t>Tailor to the assigned baseline and local authority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65C6A235-E772-411E-9C8E-1E207F2C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A7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736E"/>
                </a:solidFill>
                <a:latin typeface="Arial"/>
                <a:ea typeface="Arial"/>
                <a:cs typeface="Arial"/>
              </a:rPr>
              <a:t>CCoE   /   Draft template v0.1   /   12</a:t>
            </a:r>
          </a:p>
        </p:txBody>
      </p:sp>
    </p:spTree>
    <p:extLst>
      <p:ext uri="{BB962C8B-B14F-4D97-AF65-F5344CB8AC3E}">
        <p14:creationId xmlns:p14="http://schemas.microsoft.com/office/powerpoint/2010/main" val="1598510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2026-10-28T13:15:15.1810000Z</dcterms:created>
  <dcterms:modified xsi:type="dcterms:W3CDTF">2026-10-28T13:15:15.1810000Z</dcterms:modified>
</coreProperties>
</file>